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700" r:id="rId2"/>
  </p:sldMasterIdLst>
  <p:notesMasterIdLst>
    <p:notesMasterId r:id="rId23"/>
  </p:notesMasterIdLst>
  <p:sldIdLst>
    <p:sldId id="256" r:id="rId3"/>
    <p:sldId id="258" r:id="rId4"/>
    <p:sldId id="257" r:id="rId5"/>
    <p:sldId id="259" r:id="rId6"/>
    <p:sldId id="260" r:id="rId7"/>
    <p:sldId id="261" r:id="rId8"/>
    <p:sldId id="263" r:id="rId9"/>
    <p:sldId id="264" r:id="rId10"/>
    <p:sldId id="265" r:id="rId11"/>
    <p:sldId id="267" r:id="rId12"/>
    <p:sldId id="268" r:id="rId13"/>
    <p:sldId id="279" r:id="rId14"/>
    <p:sldId id="269" r:id="rId15"/>
    <p:sldId id="270" r:id="rId16"/>
    <p:sldId id="272" r:id="rId17"/>
    <p:sldId id="273" r:id="rId18"/>
    <p:sldId id="274" r:id="rId19"/>
    <p:sldId id="275" r:id="rId20"/>
    <p:sldId id="276"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48F16F-87BF-4750-B14A-685940B55EE0}">
          <p14:sldIdLst>
            <p14:sldId id="256"/>
            <p14:sldId id="258"/>
            <p14:sldId id="257"/>
            <p14:sldId id="259"/>
            <p14:sldId id="260"/>
            <p14:sldId id="261"/>
            <p14:sldId id="263"/>
            <p14:sldId id="264"/>
            <p14:sldId id="265"/>
            <p14:sldId id="267"/>
            <p14:sldId id="268"/>
            <p14:sldId id="279"/>
            <p14:sldId id="269"/>
            <p14:sldId id="270"/>
            <p14:sldId id="272"/>
            <p14:sldId id="273"/>
            <p14:sldId id="274"/>
            <p14:sldId id="275"/>
            <p14:sldId id="276"/>
            <p14:sldId id="278"/>
          </p14:sldIdLst>
        </p14:section>
        <p14:section name="Untitled Section" id="{7329496D-3EF7-4242-9908-969A200BEAEF}">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C21FF-908F-4C9E-BBC0-9CEE9D914052}" v="5" dt="2024-10-07T08:31:19.8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605" autoAdjust="0"/>
    <p:restoredTop sz="86435" autoAdjust="0"/>
  </p:normalViewPr>
  <p:slideViewPr>
    <p:cSldViewPr snapToGrid="0">
      <p:cViewPr>
        <p:scale>
          <a:sx n="70" d="100"/>
          <a:sy n="70" d="100"/>
        </p:scale>
        <p:origin x="269" y="77"/>
      </p:cViewPr>
      <p:guideLst/>
    </p:cSldViewPr>
  </p:slideViewPr>
  <p:outlineViewPr>
    <p:cViewPr>
      <p:scale>
        <a:sx n="25" d="100"/>
        <a:sy n="25"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URKAN Khan" userId="a9af71383a3755a7" providerId="LiveId" clId="{6FDC21FF-908F-4C9E-BBC0-9CEE9D914052}"/>
    <pc:docChg chg="undo redo custSel addSld modSld modSection">
      <pc:chgData name="FURKAN Khan" userId="a9af71383a3755a7" providerId="LiveId" clId="{6FDC21FF-908F-4C9E-BBC0-9CEE9D914052}" dt="2024-10-07T08:36:34.656" v="10" actId="14100"/>
      <pc:docMkLst>
        <pc:docMk/>
      </pc:docMkLst>
      <pc:sldChg chg="modSp mod setBg">
        <pc:chgData name="FURKAN Khan" userId="a9af71383a3755a7" providerId="LiveId" clId="{6FDC21FF-908F-4C9E-BBC0-9CEE9D914052}" dt="2024-10-07T08:36:34.656" v="10" actId="14100"/>
        <pc:sldMkLst>
          <pc:docMk/>
          <pc:sldMk cId="3804585173" sldId="265"/>
        </pc:sldMkLst>
        <pc:picChg chg="mod">
          <ac:chgData name="FURKAN Khan" userId="a9af71383a3755a7" providerId="LiveId" clId="{6FDC21FF-908F-4C9E-BBC0-9CEE9D914052}" dt="2024-10-07T08:36:34.656" v="10" actId="14100"/>
          <ac:picMkLst>
            <pc:docMk/>
            <pc:sldMk cId="3804585173" sldId="265"/>
            <ac:picMk id="7" creationId="{00000000-0000-0000-0000-000000000000}"/>
          </ac:picMkLst>
        </pc:picChg>
      </pc:sldChg>
      <pc:sldChg chg="modSp mod">
        <pc:chgData name="FURKAN Khan" userId="a9af71383a3755a7" providerId="LiveId" clId="{6FDC21FF-908F-4C9E-BBC0-9CEE9D914052}" dt="2024-10-07T08:34:54.278" v="9" actId="1076"/>
        <pc:sldMkLst>
          <pc:docMk/>
          <pc:sldMk cId="1098634268" sldId="268"/>
        </pc:sldMkLst>
        <pc:spChg chg="mod">
          <ac:chgData name="FURKAN Khan" userId="a9af71383a3755a7" providerId="LiveId" clId="{6FDC21FF-908F-4C9E-BBC0-9CEE9D914052}" dt="2024-10-07T08:30:37.146" v="5"/>
          <ac:spMkLst>
            <pc:docMk/>
            <pc:sldMk cId="1098634268" sldId="268"/>
            <ac:spMk id="3" creationId="{00000000-0000-0000-0000-000000000000}"/>
          </ac:spMkLst>
        </pc:spChg>
        <pc:spChg chg="mod">
          <ac:chgData name="FURKAN Khan" userId="a9af71383a3755a7" providerId="LiveId" clId="{6FDC21FF-908F-4C9E-BBC0-9CEE9D914052}" dt="2024-10-07T08:34:54.278" v="9" actId="1076"/>
          <ac:spMkLst>
            <pc:docMk/>
            <pc:sldMk cId="1098634268" sldId="268"/>
            <ac:spMk id="4" creationId="{00000000-0000-0000-0000-000000000000}"/>
          </ac:spMkLst>
        </pc:spChg>
      </pc:sldChg>
      <pc:sldChg chg="add">
        <pc:chgData name="FURKAN Khan" userId="a9af71383a3755a7" providerId="LiveId" clId="{6FDC21FF-908F-4C9E-BBC0-9CEE9D914052}" dt="2024-10-07T08:31:37.937" v="6" actId="2890"/>
        <pc:sldMkLst>
          <pc:docMk/>
          <pc:sldMk cId="2069440774"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7C0185-B10E-4018-AEBF-57C2A91C41FD}" type="datetimeFigureOut">
              <a:rPr lang="en-IN" smtClean="0"/>
              <a:t>07-10-2024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EF0F26-E642-4E36-812D-589ED8D78C67}" type="slidenum">
              <a:rPr lang="en-IN" smtClean="0"/>
              <a:t>‹#›</a:t>
            </a:fld>
            <a:endParaRPr lang="en-IN"/>
          </a:p>
        </p:txBody>
      </p:sp>
    </p:spTree>
    <p:extLst>
      <p:ext uri="{BB962C8B-B14F-4D97-AF65-F5344CB8AC3E}">
        <p14:creationId xmlns:p14="http://schemas.microsoft.com/office/powerpoint/2010/main" val="3244639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EF0F26-E642-4E36-812D-589ED8D78C67}" type="slidenum">
              <a:rPr lang="en-IN" smtClean="0"/>
              <a:t>2</a:t>
            </a:fld>
            <a:endParaRPr lang="en-IN"/>
          </a:p>
        </p:txBody>
      </p:sp>
    </p:spTree>
    <p:extLst>
      <p:ext uri="{BB962C8B-B14F-4D97-AF65-F5344CB8AC3E}">
        <p14:creationId xmlns:p14="http://schemas.microsoft.com/office/powerpoint/2010/main" val="1682038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10/7/2024</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488662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10/7/2024</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532311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10/7/2024</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47347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10/7/2024</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108484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10/7/2024</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83000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10/7/2024</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238310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10/7/2024</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510738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10/7/2024</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42022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10/7/2024</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007447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10/7/2024</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332869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10/7/2024</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972874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04507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807822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273777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44988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617086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90721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18985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59247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402314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334287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00796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10/7/2024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07130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10/7/2024</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dirty="0">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dirty="0"/>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313446329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10/7/2024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2772062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693" r:id="rId6"/>
    <p:sldLayoutId id="2147483688" r:id="rId7"/>
    <p:sldLayoutId id="2147483689" r:id="rId8"/>
    <p:sldLayoutId id="2147483690" r:id="rId9"/>
    <p:sldLayoutId id="2147483691" r:id="rId10"/>
    <p:sldLayoutId id="2147483692" r:id="rId11"/>
    <p:sldLayoutId id="2147483694"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8.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8.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8.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8.xml"/><Relationship Id="rId5" Type="http://schemas.openxmlformats.org/officeDocument/2006/relationships/image" Target="../media/image19.jpeg"/><Relationship Id="rId4" Type="http://schemas.openxmlformats.org/officeDocument/2006/relationships/image" Target="../media/image18.jpe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8.xml"/><Relationship Id="rId5" Type="http://schemas.openxmlformats.org/officeDocument/2006/relationships/image" Target="../media/image23.jpeg"/><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0" name="Rectangle 199">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20" name="Picture 19" descr="A silhouette of a person standing in front of a stage&#10;&#10;Description automatically generated">
            <a:extLst>
              <a:ext uri="{FF2B5EF4-FFF2-40B4-BE49-F238E27FC236}">
                <a16:creationId xmlns:a16="http://schemas.microsoft.com/office/drawing/2014/main" id="{5BCBA39D-D97F-FED2-A578-D1A71C71DFA0}"/>
              </a:ext>
            </a:extLst>
          </p:cNvPr>
          <p:cNvPicPr>
            <a:picLocks noChangeAspect="1"/>
          </p:cNvPicPr>
          <p:nvPr/>
        </p:nvPicPr>
        <p:blipFill>
          <a:blip r:embed="rId2">
            <a:extLst>
              <a:ext uri="{28A0092B-C50C-407E-A947-70E740481C1C}">
                <a14:useLocalDpi xmlns:a14="http://schemas.microsoft.com/office/drawing/2010/main" val="0"/>
              </a:ext>
            </a:extLst>
          </a:blip>
          <a:srcRect t="29037" r="1" b="39322"/>
          <a:stretch/>
        </p:blipFill>
        <p:spPr>
          <a:xfrm>
            <a:off x="-6214" y="-196645"/>
            <a:ext cx="12204407" cy="7128386"/>
          </a:xfrm>
          <a:prstGeom prst="rect">
            <a:avLst/>
          </a:prstGeom>
        </p:spPr>
      </p:pic>
      <p:grpSp>
        <p:nvGrpSpPr>
          <p:cNvPr id="202" name="Group 201">
            <a:extLst>
              <a:ext uri="{FF2B5EF4-FFF2-40B4-BE49-F238E27FC236}">
                <a16:creationId xmlns:a16="http://schemas.microsoft.com/office/drawing/2014/main" id="{20C61190-C3C6-470C-AD7E-DE1774D3B8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03" name="Straight Connector 202">
              <a:extLst>
                <a:ext uri="{FF2B5EF4-FFF2-40B4-BE49-F238E27FC236}">
                  <a16:creationId xmlns:a16="http://schemas.microsoft.com/office/drawing/2014/main" id="{FBA79076-09E2-42F2-AB53-2AC97BBF9E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6EFE7B6-A678-4080-8095-C35AC6E627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4F819F03-C610-41AD-8191-AA9D0505BB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1C3F4891-5EFC-4D18-A624-398BDF1CA0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6B7416C3-B1E9-4255-96DF-4E177FC3E1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27C17DC8-7DA5-4B05-966A-FB28DD8722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C1CE5E79-B59D-401A-BCC0-2D95B96A6C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03BD0973-E146-44AE-8BD5-665926060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E0B00FB7-2DA7-477B-8D71-0F3C3442F1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B9C836F-E0FA-4F43-8595-37B03CFFB7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256D2723-3E4D-48B1-A6D2-1A24F3DA37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FE33C010-3B40-4B74-AFED-9A12421E80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B75A24DA-3AD1-4146-9C36-1FF666EDB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AC312543-C4C1-48AB-A32C-CEBC259771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A3B4AB31-8C5A-4150-95D6-D57F6C25CB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2D04B4EB-7F4A-4631-8A31-10795C50E1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F7E2406-347A-4008-A837-B169329A8B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83A29D85-8791-40DE-8AC1-55E01EF5FB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5456E209-65A9-41F0-95CA-06832E2C62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248FBE92-306C-410A-A46C-78FA64751B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BDEEC058-0746-4C6F-B438-432F7C5BB6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05675A2-165F-45F4-B82A-CADDAC635D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A7B04075-3949-4CE8-BC5D-8CC7C69B49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52095348-F370-432D-AB24-DF01B3569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80338639-8676-4CBD-A1C3-38D647AC94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8CD5D49-5B76-4AC2-AC0F-021E858B67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7F0315B3-012B-4122-9034-0EA1ED049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A7F3B018-21CC-4BB8-B439-99AEF58B1F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C0B51FB9-22BD-46DF-BE69-B2A00DA04C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33" name="Rectangle 232">
            <a:extLst>
              <a:ext uri="{FF2B5EF4-FFF2-40B4-BE49-F238E27FC236}">
                <a16:creationId xmlns:a16="http://schemas.microsoft.com/office/drawing/2014/main" id="{406D8C29-9DDA-48D0-AF70-905FDB2CE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C1DB9-313E-12CD-EB8E-BF09E230C1F5}"/>
              </a:ext>
            </a:extLst>
          </p:cNvPr>
          <p:cNvSpPr>
            <a:spLocks noGrp="1"/>
          </p:cNvSpPr>
          <p:nvPr>
            <p:ph type="ctrTitle"/>
          </p:nvPr>
        </p:nvSpPr>
        <p:spPr>
          <a:xfrm>
            <a:off x="7390547" y="582436"/>
            <a:ext cx="4419609" cy="3184274"/>
          </a:xfrm>
        </p:spPr>
        <p:txBody>
          <a:bodyPr>
            <a:normAutofit/>
          </a:bodyPr>
          <a:lstStyle/>
          <a:p>
            <a:r>
              <a:rPr lang="en-IN" dirty="0"/>
              <a:t>Club</a:t>
            </a:r>
            <a:br>
              <a:rPr lang="en-IN" dirty="0"/>
            </a:br>
            <a:r>
              <a:rPr lang="en-IN" dirty="0"/>
              <a:t>Management </a:t>
            </a:r>
            <a:br>
              <a:rPr lang="en-IN" dirty="0"/>
            </a:br>
            <a:endParaRPr lang="en-IN" dirty="0"/>
          </a:p>
        </p:txBody>
      </p:sp>
      <p:sp>
        <p:nvSpPr>
          <p:cNvPr id="3" name="Subtitle 2">
            <a:extLst>
              <a:ext uri="{FF2B5EF4-FFF2-40B4-BE49-F238E27FC236}">
                <a16:creationId xmlns:a16="http://schemas.microsoft.com/office/drawing/2014/main" id="{BF047B85-B687-4E0C-9979-84AD0C2EAABB}"/>
              </a:ext>
            </a:extLst>
          </p:cNvPr>
          <p:cNvSpPr>
            <a:spLocks noGrp="1"/>
          </p:cNvSpPr>
          <p:nvPr>
            <p:ph type="subTitle" idx="1"/>
          </p:nvPr>
        </p:nvSpPr>
        <p:spPr>
          <a:xfrm>
            <a:off x="8220538" y="2962606"/>
            <a:ext cx="3041906" cy="1495379"/>
          </a:xfrm>
        </p:spPr>
        <p:txBody>
          <a:bodyPr>
            <a:normAutofit/>
          </a:bodyPr>
          <a:lstStyle/>
          <a:p>
            <a:r>
              <a:rPr lang="en-IN" sz="5400" dirty="0"/>
              <a:t>System</a:t>
            </a:r>
          </a:p>
        </p:txBody>
      </p:sp>
      <p:sp>
        <p:nvSpPr>
          <p:cNvPr id="23" name="TextBox 22">
            <a:extLst>
              <a:ext uri="{FF2B5EF4-FFF2-40B4-BE49-F238E27FC236}">
                <a16:creationId xmlns:a16="http://schemas.microsoft.com/office/drawing/2014/main" id="{F0E8CEB7-4D68-31CF-0821-856BA1FBC286}"/>
              </a:ext>
            </a:extLst>
          </p:cNvPr>
          <p:cNvSpPr txBox="1"/>
          <p:nvPr/>
        </p:nvSpPr>
        <p:spPr>
          <a:xfrm>
            <a:off x="8658498" y="4233702"/>
            <a:ext cx="3570064" cy="338554"/>
          </a:xfrm>
          <a:prstGeom prst="rect">
            <a:avLst/>
          </a:prstGeom>
          <a:noFill/>
        </p:spPr>
        <p:txBody>
          <a:bodyPr wrap="square" rtlCol="0">
            <a:spAutoFit/>
          </a:bodyPr>
          <a:lstStyle/>
          <a:p>
            <a:r>
              <a:rPr lang="en-IN" sz="1600" dirty="0">
                <a:solidFill>
                  <a:schemeClr val="bg1"/>
                </a:solidFill>
                <a:latin typeface="Arial Rounded MT Bold" panose="020F0704030504030204" pitchFamily="34" charset="0"/>
              </a:rPr>
              <a:t>By Junaid Khan</a:t>
            </a:r>
          </a:p>
        </p:txBody>
      </p:sp>
    </p:spTree>
    <p:extLst>
      <p:ext uri="{BB962C8B-B14F-4D97-AF65-F5344CB8AC3E}">
        <p14:creationId xmlns:p14="http://schemas.microsoft.com/office/powerpoint/2010/main" val="301831087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5" presetClass="emph" presetSubtype="0" nodeType="clickEffect">
                                  <p:stCondLst>
                                    <p:cond delay="0"/>
                                  </p:stCondLst>
                                  <p:iterate type="lt">
                                    <p:tmAbs val="25"/>
                                  </p:iterate>
                                  <p:childTnLst>
                                    <p:set>
                                      <p:cBhvr override="childStyle">
                                        <p:cTn id="24" dur="indefinite"/>
                                        <p:tgtEl>
                                          <p:spTgt spid="20"/>
                                        </p:tgtEl>
                                        <p:attrNameLst>
                                          <p:attrName>style.fontWeight</p:attrName>
                                        </p:attrNameLst>
                                      </p:cBhvr>
                                      <p:to>
                                        <p:strVal val="bold"/>
                                      </p:to>
                                    </p:se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wipe(down)">
                                      <p:cBhvr>
                                        <p:cTn id="29" dur="580">
                                          <p:stCondLst>
                                            <p:cond delay="0"/>
                                          </p:stCondLst>
                                        </p:cTn>
                                        <p:tgtEl>
                                          <p:spTgt spid="3">
                                            <p:txEl>
                                              <p:pRg st="0" end="0"/>
                                            </p:txEl>
                                          </p:spTgt>
                                        </p:tgtEl>
                                      </p:cBhvr>
                                    </p:animEffect>
                                    <p:anim calcmode="lin" valueType="num">
                                      <p:cBhvr>
                                        <p:cTn id="30"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0" end="0"/>
                                            </p:txEl>
                                          </p:spTgt>
                                        </p:tgtEl>
                                      </p:cBhvr>
                                      <p:to x="100000" y="60000"/>
                                    </p:animScale>
                                    <p:animScale>
                                      <p:cBhvr>
                                        <p:cTn id="36" dur="166" decel="50000">
                                          <p:stCondLst>
                                            <p:cond delay="676"/>
                                          </p:stCondLst>
                                        </p:cTn>
                                        <p:tgtEl>
                                          <p:spTgt spid="3">
                                            <p:txEl>
                                              <p:pRg st="0" end="0"/>
                                            </p:txEl>
                                          </p:spTgt>
                                        </p:tgtEl>
                                      </p:cBhvr>
                                      <p:to x="100000" y="100000"/>
                                    </p:animScale>
                                    <p:animScale>
                                      <p:cBhvr>
                                        <p:cTn id="37" dur="26">
                                          <p:stCondLst>
                                            <p:cond delay="1312"/>
                                          </p:stCondLst>
                                        </p:cTn>
                                        <p:tgtEl>
                                          <p:spTgt spid="3">
                                            <p:txEl>
                                              <p:pRg st="0" end="0"/>
                                            </p:txEl>
                                          </p:spTgt>
                                        </p:tgtEl>
                                      </p:cBhvr>
                                      <p:to x="100000" y="80000"/>
                                    </p:animScale>
                                    <p:animScale>
                                      <p:cBhvr>
                                        <p:cTn id="38" dur="166" decel="50000">
                                          <p:stCondLst>
                                            <p:cond delay="1338"/>
                                          </p:stCondLst>
                                        </p:cTn>
                                        <p:tgtEl>
                                          <p:spTgt spid="3">
                                            <p:txEl>
                                              <p:pRg st="0" end="0"/>
                                            </p:txEl>
                                          </p:spTgt>
                                        </p:tgtEl>
                                      </p:cBhvr>
                                      <p:to x="100000" y="100000"/>
                                    </p:animScale>
                                    <p:animScale>
                                      <p:cBhvr>
                                        <p:cTn id="39" dur="26">
                                          <p:stCondLst>
                                            <p:cond delay="1642"/>
                                          </p:stCondLst>
                                        </p:cTn>
                                        <p:tgtEl>
                                          <p:spTgt spid="3">
                                            <p:txEl>
                                              <p:pRg st="0" end="0"/>
                                            </p:txEl>
                                          </p:spTgt>
                                        </p:tgtEl>
                                      </p:cBhvr>
                                      <p:to x="100000" y="90000"/>
                                    </p:animScale>
                                    <p:animScale>
                                      <p:cBhvr>
                                        <p:cTn id="40" dur="166" decel="50000">
                                          <p:stCondLst>
                                            <p:cond delay="1668"/>
                                          </p:stCondLst>
                                        </p:cTn>
                                        <p:tgtEl>
                                          <p:spTgt spid="3">
                                            <p:txEl>
                                              <p:pRg st="0" end="0"/>
                                            </p:txEl>
                                          </p:spTgt>
                                        </p:tgtEl>
                                      </p:cBhvr>
                                      <p:to x="100000" y="100000"/>
                                    </p:animScale>
                                    <p:animScale>
                                      <p:cBhvr>
                                        <p:cTn id="41" dur="26">
                                          <p:stCondLst>
                                            <p:cond delay="1808"/>
                                          </p:stCondLst>
                                        </p:cTn>
                                        <p:tgtEl>
                                          <p:spTgt spid="3">
                                            <p:txEl>
                                              <p:pRg st="0" end="0"/>
                                            </p:txEl>
                                          </p:spTgt>
                                        </p:tgtEl>
                                      </p:cBhvr>
                                      <p:to x="100000" y="95000"/>
                                    </p:animScale>
                                    <p:animScale>
                                      <p:cBhvr>
                                        <p:cTn id="42" dur="166" decel="50000">
                                          <p:stCondLst>
                                            <p:cond delay="1834"/>
                                          </p:stCondLst>
                                        </p:cTn>
                                        <p:tgtEl>
                                          <p:spTgt spid="3">
                                            <p:txEl>
                                              <p:pRg st="0" end="0"/>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3">
                                            <p:txEl>
                                              <p:pRg st="0" end="0"/>
                                            </p:txEl>
                                          </p:spTgt>
                                        </p:tgtEl>
                                        <p:attrNameLst>
                                          <p:attrName>style.visibility</p:attrName>
                                        </p:attrNameLst>
                                      </p:cBhvr>
                                      <p:to>
                                        <p:strVal val="visible"/>
                                      </p:to>
                                    </p:set>
                                    <p:anim calcmode="lin" valueType="num">
                                      <p:cBhvr additive="base">
                                        <p:cTn id="47"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 name="Rectangle 288">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291" name="Group 290">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92" name="Straight Connector 291">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22" name="Freeform: Shape 321">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24" name="Freeform: Shape 323">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26" name="Freeform: Shape 325">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328" name="Group 327">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29" name="Straight Connector 328">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359" name="Rectangle 358">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61" name="Rectangle 360">
            <a:extLst>
              <a:ext uri="{FF2B5EF4-FFF2-40B4-BE49-F238E27FC236}">
                <a16:creationId xmlns:a16="http://schemas.microsoft.com/office/drawing/2014/main" id="{90B4ACB0-2B52-48C2-9BC9-553BE73567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63" name="Right Triangle 362">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96085" y="1566850"/>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5" name="Group 364">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366" name="Straight Connector 365">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0C62BD9-903B-6F75-8AA0-182E2135909E}"/>
              </a:ext>
            </a:extLst>
          </p:cNvPr>
          <p:cNvSpPr>
            <a:spLocks noGrp="1"/>
          </p:cNvSpPr>
          <p:nvPr>
            <p:ph type="title"/>
          </p:nvPr>
        </p:nvSpPr>
        <p:spPr>
          <a:xfrm>
            <a:off x="1232992" y="1060272"/>
            <a:ext cx="4952999" cy="2244176"/>
          </a:xfrm>
        </p:spPr>
        <p:txBody>
          <a:bodyPr vert="horz" lIns="91440" tIns="45720" rIns="91440" bIns="45720" rtlCol="0" anchor="ctr">
            <a:normAutofit/>
          </a:bodyPr>
          <a:lstStyle/>
          <a:p>
            <a:r>
              <a:rPr lang="en-US" dirty="0">
                <a:solidFill>
                  <a:schemeClr val="tx2"/>
                </a:solidFill>
              </a:rPr>
              <a:t>About project</a:t>
            </a:r>
          </a:p>
        </p:txBody>
      </p:sp>
      <p:sp>
        <p:nvSpPr>
          <p:cNvPr id="4" name="TextBox 3">
            <a:extLst>
              <a:ext uri="{FF2B5EF4-FFF2-40B4-BE49-F238E27FC236}">
                <a16:creationId xmlns:a16="http://schemas.microsoft.com/office/drawing/2014/main" id="{5C3C0F1D-719D-B19A-4FA4-FD2A798013BF}"/>
              </a:ext>
            </a:extLst>
          </p:cNvPr>
          <p:cNvSpPr txBox="1"/>
          <p:nvPr/>
        </p:nvSpPr>
        <p:spPr>
          <a:xfrm>
            <a:off x="828283" y="2953436"/>
            <a:ext cx="4952999" cy="3009494"/>
          </a:xfrm>
          <a:prstGeom prst="rect">
            <a:avLst/>
          </a:prstGeom>
        </p:spPr>
        <p:txBody>
          <a:bodyPr vert="horz" lIns="91440" tIns="45720" rIns="91440" bIns="45720" rtlCol="0">
            <a:normAutofit/>
          </a:bodyPr>
          <a:lstStyle/>
          <a:p>
            <a:pPr marL="228600" indent="-228600">
              <a:spcAft>
                <a:spcPts val="600"/>
              </a:spcAft>
              <a:buClr>
                <a:schemeClr val="bg1"/>
              </a:buClr>
              <a:buSzPct val="75000"/>
              <a:buFont typeface="+mj-lt"/>
              <a:buAutoNum type="arabicPeriod"/>
            </a:pPr>
            <a:r>
              <a:rPr lang="en-US" sz="1300" dirty="0">
                <a:solidFill>
                  <a:schemeClr val="tx2"/>
                </a:solidFill>
              </a:rPr>
              <a:t>The club management system project in SQL involves designing a relational database to manage various aspects of a club's operations, including member information, event details, and financial transactions. The database typically consists of tables for members, events, registrations, and payments, enabling efficient data storage and retrieval. SQL queries facilitate tasks such as adding new members, tracking event participation, and generating financial reports. By implementing this system, clubs can streamline their administrative processes, enhance member engagement, and maintain accurate records, ultimately fostering a more organized and responsive environment.</a:t>
            </a:r>
          </a:p>
        </p:txBody>
      </p:sp>
      <p:pic>
        <p:nvPicPr>
          <p:cNvPr id="39" name="Picture 38" descr="A large crowd of people at night&#10;&#10;Description automatically generated">
            <a:extLst>
              <a:ext uri="{FF2B5EF4-FFF2-40B4-BE49-F238E27FC236}">
                <a16:creationId xmlns:a16="http://schemas.microsoft.com/office/drawing/2014/main" id="{8CC63F32-18A8-2956-7C37-205E90262002}"/>
              </a:ext>
            </a:extLst>
          </p:cNvPr>
          <p:cNvPicPr>
            <a:picLocks noChangeAspect="1"/>
          </p:cNvPicPr>
          <p:nvPr/>
        </p:nvPicPr>
        <p:blipFill>
          <a:blip r:embed="rId3">
            <a:extLst>
              <a:ext uri="{28A0092B-C50C-407E-A947-70E740481C1C}">
                <a14:useLocalDpi xmlns:a14="http://schemas.microsoft.com/office/drawing/2010/main" val="0"/>
              </a:ext>
            </a:extLst>
          </a:blip>
          <a:srcRect t="21768" r="1" b="587"/>
          <a:stretch/>
        </p:blipFill>
        <p:spPr>
          <a:xfrm>
            <a:off x="6344122" y="-4232"/>
            <a:ext cx="5899302" cy="6862230"/>
          </a:xfrm>
          <a:custGeom>
            <a:avLst/>
            <a:gdLst/>
            <a:ahLst/>
            <a:cxnLst/>
            <a:rect l="l" t="t" r="r" b="b"/>
            <a:pathLst>
              <a:path w="5923149" h="6857997">
                <a:moveTo>
                  <a:pt x="320173" y="0"/>
                </a:moveTo>
                <a:lnTo>
                  <a:pt x="5923149" y="0"/>
                </a:lnTo>
                <a:lnTo>
                  <a:pt x="5923149" y="6857997"/>
                </a:lnTo>
                <a:lnTo>
                  <a:pt x="1111789" y="6857997"/>
                </a:lnTo>
                <a:lnTo>
                  <a:pt x="1106562" y="6546368"/>
                </a:lnTo>
                <a:cubicBezTo>
                  <a:pt x="1000021" y="3425651"/>
                  <a:pt x="-688878" y="3321843"/>
                  <a:pt x="320173" y="0"/>
                </a:cubicBezTo>
                <a:close/>
              </a:path>
            </a:pathLst>
          </a:custGeom>
        </p:spPr>
      </p:pic>
    </p:spTree>
    <p:extLst>
      <p:ext uri="{BB962C8B-B14F-4D97-AF65-F5344CB8AC3E}">
        <p14:creationId xmlns:p14="http://schemas.microsoft.com/office/powerpoint/2010/main" val="2393504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6" name="Rectangle 375">
            <a:extLst>
              <a:ext uri="{FF2B5EF4-FFF2-40B4-BE49-F238E27FC236}">
                <a16:creationId xmlns:a16="http://schemas.microsoft.com/office/drawing/2014/main" id="{A4798C7F-C8CA-4799-BF37-3AB4642CDB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162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377" name="Group 376">
            <a:extLst>
              <a:ext uri="{FF2B5EF4-FFF2-40B4-BE49-F238E27FC236}">
                <a16:creationId xmlns:a16="http://schemas.microsoft.com/office/drawing/2014/main" id="{87F0794B-55D3-4D2D-BDE7-4688ED321E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274" name="Straight Connector 273">
              <a:extLst>
                <a:ext uri="{FF2B5EF4-FFF2-40B4-BE49-F238E27FC236}">
                  <a16:creationId xmlns:a16="http://schemas.microsoft.com/office/drawing/2014/main" id="{BE4C795B-1813-4CC6-B03F-8DD130BEAA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E0F4C04D-5CD8-446B-BE3D-257172E6E4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FDDC802E-606F-4F39-84B6-90DF0FE54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2C5B0C75-0136-4A39-9AB6-0F02C45278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C5ED2B52-3D40-46DE-8B54-99A4071578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18BCEC75-1B6B-45B2-8041-8D933FCF6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6A2FC789-056A-43CC-807E-4262CDC3E0F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48C32FD3-76B0-40E7-89F2-E9C523210A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B82E9447-8362-426C-840A-B6F2231F7B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2F141DC8-83CE-4C21-A5BA-E2FFF3D86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12A697C-ECBC-40A9-AC69-BF96A34B91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D2E988AF-5EFB-43D3-B93F-6E4F41A2C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6B312C1B-AAE2-4A6D-ACC7-ABAA75D428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57B96146-61DA-44D6-A9DF-6DB41FCF2D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6B33F93D-4439-46EE-97C4-9CECAAFDCF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5914B275-A3D7-4BA4-B8CB-E7657100F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BD26EF3B-FBE7-4D57-8E01-553F50734A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6CC1E671-BA54-4B31-9A2E-8F50BC57A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A836A704-3624-4ABF-9A67-0F52C2F3EF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5FDC385D-BA34-481F-A991-A776E0B193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F1EF033A-D8FB-416B-AE51-4E098A27D6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17C17B48-F458-4E9B-9331-56FCDC5B6A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07E44A4B-D453-46F0-A83D-AF0B33D5C5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46BEA9F-314B-440D-AE8D-21E1252EC5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F15EAFD0-4869-4612-ACDE-ABC703104E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A0F26706-7F23-4FF0-9CAF-F3C4F47C1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C0195A72-345A-4E88-8D71-14DB3D1B60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0DBF51A6-A3BC-49FE-BB01-E899281177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A78DF911-744C-419B-83DC-39F270BBF4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78" name="Freeform: Shape 377">
            <a:extLst>
              <a:ext uri="{FF2B5EF4-FFF2-40B4-BE49-F238E27FC236}">
                <a16:creationId xmlns:a16="http://schemas.microsoft.com/office/drawing/2014/main" id="{216BB147-20D5-4D93-BDA5-1BC614D6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79" name="Freeform: Shape 378">
            <a:extLst>
              <a:ext uri="{FF2B5EF4-FFF2-40B4-BE49-F238E27FC236}">
                <a16:creationId xmlns:a16="http://schemas.microsoft.com/office/drawing/2014/main" id="{0A253F60-DE40-4508-A37A-61331DF1D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380" name="Freeform: Shape 379">
            <a:extLst>
              <a:ext uri="{FF2B5EF4-FFF2-40B4-BE49-F238E27FC236}">
                <a16:creationId xmlns:a16="http://schemas.microsoft.com/office/drawing/2014/main" id="{9A0D6220-3DFE-4182-9152-9135493A6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grpSp>
        <p:nvGrpSpPr>
          <p:cNvPr id="381" name="Group 380">
            <a:extLst>
              <a:ext uri="{FF2B5EF4-FFF2-40B4-BE49-F238E27FC236}">
                <a16:creationId xmlns:a16="http://schemas.microsoft.com/office/drawing/2014/main" id="{44C729BC-90F1-4823-A305-F6F124E93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11" name="Straight Connector 310">
              <a:extLst>
                <a:ext uri="{FF2B5EF4-FFF2-40B4-BE49-F238E27FC236}">
                  <a16:creationId xmlns:a16="http://schemas.microsoft.com/office/drawing/2014/main" id="{640014BD-8822-4EFD-B887-1E95DBBB42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E9445DF-509C-4993-834C-4A95C90E30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FDCB110E-203A-4D63-810B-7AB453AB9B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F264073E-6737-44FE-BC04-BFEE37133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DA24A7E-F63B-4B87-ABA5-BDD8F8F65F7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9CC2C5D2-CEDF-4390-A89D-71DBD7C377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8956D0DF-B8DD-44AB-A831-329B2973EE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7AB17CF4-098C-43B0-A0E0-235CEB55F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D3CA7C27-06AF-4DB3-A3B2-F81C41D52B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8BD2BB17-7774-4215-872F-9CF37633BB6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22E1C172-AA18-42F1-B952-4791B50351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C9D5EBAC-D904-4410-A575-1A2B810D8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8B38425E-0189-47B9-9F42-67DC5386E3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E6584C8E-A8AC-49AB-8E5B-337E14D4F8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E8FCDC21-75B9-4F36-AEB4-186CDD994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79AAC1FD-FBB6-4E21-A267-E4B9029BB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20FDEAF3-AB6A-41DF-BF11-2451208180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29F9892F-F26B-4C6F-A949-097D3EBC773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FCCA59EA-5156-402B-82A4-AAE14B2D9A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31E175D8-17F1-46B8-807F-89A75CD4D9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5AE169C4-F6B2-44D0-A73C-88C304E8A3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2CE19136-3F8D-4350-A424-8241923BCD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CF937350-E379-4C45-BC56-20808BBED3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FE4F6988-3981-46A0-B744-EE972197D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EDB419A9-FCB9-4B39-8D9E-91CC0B8E77A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7D6861DB-43A8-4624-9ECC-5A96BE3AF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4AFBD701-C20E-441D-8596-4BBBF49556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73C41C88-00F9-45AF-8D64-37BA70969B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E6420BDA-21B9-4B17-A82E-A9EB28138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useBgFill="1">
        <p:nvSpPr>
          <p:cNvPr id="382" name="Rectangle 381">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8" name="Picture 7">
            <a:extLst>
              <a:ext uri="{FF2B5EF4-FFF2-40B4-BE49-F238E27FC236}">
                <a16:creationId xmlns:a16="http://schemas.microsoft.com/office/drawing/2014/main" id="{E8AC47E2-0ACC-4029-AE92-C112F2A65B8C}"/>
              </a:ext>
            </a:extLst>
          </p:cNvPr>
          <p:cNvPicPr>
            <a:picLocks noChangeAspect="1"/>
          </p:cNvPicPr>
          <p:nvPr/>
        </p:nvPicPr>
        <p:blipFill>
          <a:blip r:embed="rId2" cstate="hqprint">
            <a:extLst>
              <a:ext uri="{28A0092B-C50C-407E-A947-70E740481C1C}">
                <a14:useLocalDpi xmlns:a14="http://schemas.microsoft.com/office/drawing/2010/main" val="0"/>
              </a:ext>
            </a:extLst>
          </a:blip>
          <a:srcRect b="15730"/>
          <a:stretch/>
        </p:blipFill>
        <p:spPr>
          <a:xfrm>
            <a:off x="20" y="10"/>
            <a:ext cx="12191980" cy="6857989"/>
          </a:xfrm>
          <a:prstGeom prst="rect">
            <a:avLst/>
          </a:prstGeom>
        </p:spPr>
      </p:pic>
      <p:grpSp>
        <p:nvGrpSpPr>
          <p:cNvPr id="383" name="Group 382">
            <a:extLst>
              <a:ext uri="{FF2B5EF4-FFF2-40B4-BE49-F238E27FC236}">
                <a16:creationId xmlns:a16="http://schemas.microsoft.com/office/drawing/2014/main" id="{20C61190-C3C6-470C-AD7E-DE1774D3B8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344" name="Straight Connector 343">
              <a:extLst>
                <a:ext uri="{FF2B5EF4-FFF2-40B4-BE49-F238E27FC236}">
                  <a16:creationId xmlns:a16="http://schemas.microsoft.com/office/drawing/2014/main" id="{FBA79076-09E2-42F2-AB53-2AC97BBF9E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56EFE7B6-A678-4080-8095-C35AC6E627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4F819F03-C610-41AD-8191-AA9D0505BB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1C3F4891-5EFC-4D18-A624-398BDF1CA0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6B7416C3-B1E9-4255-96DF-4E177FC3E1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27C17DC8-7DA5-4B05-966A-FB28DD87229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C1CE5E79-B59D-401A-BCC0-2D95B96A6C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03BD0973-E146-44AE-8BD5-665926060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E0B00FB7-2DA7-477B-8D71-0F3C3442F19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EB9C836F-E0FA-4F43-8595-37B03CFFB7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256D2723-3E4D-48B1-A6D2-1A24F3DA37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FE33C010-3B40-4B74-AFED-9A12421E80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B75A24DA-3AD1-4146-9C36-1FF666EDB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AC312543-C4C1-48AB-A32C-CEBC259771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A3B4AB31-8C5A-4150-95D6-D57F6C25CB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2D04B4EB-7F4A-4631-8A31-10795C50E1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1F7E2406-347A-4008-A837-B169329A8B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83A29D85-8791-40DE-8AC1-55E01EF5FB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5456E209-65A9-41F0-95CA-06832E2C62F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248FBE92-306C-410A-A46C-78FA64751B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BDEEC058-0746-4C6F-B438-432F7C5BB6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405675A2-165F-45F4-B82A-CADDAC635D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A7B04075-3949-4CE8-BC5D-8CC7C69B49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52095348-F370-432D-AB24-DF01B35699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80338639-8676-4CBD-A1C3-38D647AC94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48CD5D49-5B76-4AC2-AC0F-021E858B67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7F0315B3-012B-4122-9034-0EA1ED049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A7F3B018-21CC-4BB8-B439-99AEF58B1F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C0B51FB9-22BD-46DF-BE69-B2A00DA04C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74" name="Rectangle 373">
            <a:extLst>
              <a:ext uri="{FF2B5EF4-FFF2-40B4-BE49-F238E27FC236}">
                <a16:creationId xmlns:a16="http://schemas.microsoft.com/office/drawing/2014/main" id="{406D8C29-9DDA-48D0-AF70-905FDB2CE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FB9F0DD-F617-205F-D08B-87C40C49528D}"/>
              </a:ext>
            </a:extLst>
          </p:cNvPr>
          <p:cNvSpPr>
            <a:spLocks noGrp="1"/>
          </p:cNvSpPr>
          <p:nvPr>
            <p:ph type="title"/>
          </p:nvPr>
        </p:nvSpPr>
        <p:spPr>
          <a:xfrm>
            <a:off x="6046414" y="2593215"/>
            <a:ext cx="6335046" cy="1982699"/>
          </a:xfrm>
        </p:spPr>
        <p:txBody>
          <a:bodyPr vert="horz" lIns="91440" tIns="45720" rIns="91440" bIns="45720" rtlCol="0" anchor="b">
            <a:normAutofit/>
          </a:bodyPr>
          <a:lstStyle/>
          <a:p>
            <a:pPr algn="ctr"/>
            <a:r>
              <a:rPr lang="en-IN" sz="5400" dirty="0"/>
              <a:t>Tables </a:t>
            </a:r>
            <a:r>
              <a:rPr lang="en-IN" sz="5400" dirty="0">
                <a:latin typeface="Arial Rounded MT Bold" panose="020F0704030504030204" pitchFamily="34" charset="0"/>
              </a:rPr>
              <a:t>Present</a:t>
            </a:r>
            <a:r>
              <a:rPr lang="en-IN" sz="5400" dirty="0"/>
              <a:t> in My </a:t>
            </a:r>
            <a:r>
              <a:rPr lang="en-IN" sz="5400" dirty="0" err="1"/>
              <a:t>DataBase</a:t>
            </a:r>
            <a:r>
              <a:rPr lang="en-IN" sz="5400" dirty="0"/>
              <a:t> </a:t>
            </a:r>
            <a:endParaRPr lang="en-US" sz="5400" dirty="0"/>
          </a:p>
        </p:txBody>
      </p:sp>
    </p:spTree>
    <p:extLst>
      <p:ext uri="{BB962C8B-B14F-4D97-AF65-F5344CB8AC3E}">
        <p14:creationId xmlns:p14="http://schemas.microsoft.com/office/powerpoint/2010/main" val="12247873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75" descr="A reserved sign on a table&#10;&#10;Description automatically generated">
            <a:extLst>
              <a:ext uri="{FF2B5EF4-FFF2-40B4-BE49-F238E27FC236}">
                <a16:creationId xmlns:a16="http://schemas.microsoft.com/office/drawing/2014/main" id="{A44F6D00-4FF4-8D82-5AEF-8819F48B9319}"/>
              </a:ext>
            </a:extLst>
          </p:cNvPr>
          <p:cNvPicPr>
            <a:picLocks noChangeAspect="1"/>
          </p:cNvPicPr>
          <p:nvPr/>
        </p:nvPicPr>
        <p:blipFill>
          <a:blip r:embed="rId2" cstate="hqprint">
            <a:extLst>
              <a:ext uri="{28A0092B-C50C-407E-A947-70E740481C1C}">
                <a14:useLocalDpi xmlns:a14="http://schemas.microsoft.com/office/drawing/2010/main" val="0"/>
              </a:ext>
            </a:extLst>
          </a:blip>
          <a:srcRect l="20310" t="13703"/>
          <a:stretch>
            <a:fillRect/>
          </a:stretch>
        </p:blipFill>
        <p:spPr>
          <a:xfrm>
            <a:off x="2948731" y="665731"/>
            <a:ext cx="2932585" cy="2686611"/>
          </a:xfrm>
          <a:custGeom>
            <a:avLst/>
            <a:gdLst>
              <a:gd name="connsiteX0" fmla="*/ 2089424 w 2089424"/>
              <a:gd name="connsiteY0" fmla="*/ 0 h 2074678"/>
              <a:gd name="connsiteX1" fmla="*/ 2089424 w 2089424"/>
              <a:gd name="connsiteY1" fmla="*/ 453333 h 2074678"/>
              <a:gd name="connsiteX2" fmla="*/ 2037039 w 2089424"/>
              <a:gd name="connsiteY2" fmla="*/ 455968 h 2074678"/>
              <a:gd name="connsiteX3" fmla="*/ 489918 w 2089424"/>
              <a:gd name="connsiteY3" fmla="*/ 1997195 h 2074678"/>
              <a:gd name="connsiteX4" fmla="*/ 485990 w 2089424"/>
              <a:gd name="connsiteY4" fmla="*/ 2074678 h 2074678"/>
              <a:gd name="connsiteX5" fmla="*/ 0 w 2089424"/>
              <a:gd name="connsiteY5" fmla="*/ 2074678 h 2074678"/>
              <a:gd name="connsiteX6" fmla="*/ 6365 w 2089424"/>
              <a:gd name="connsiteY6" fmla="*/ 1950853 h 2074678"/>
              <a:gd name="connsiteX7" fmla="*/ 1987342 w 2089424"/>
              <a:gd name="connsiteY7" fmla="*/ 5063 h 2074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9424" h="2074678">
                <a:moveTo>
                  <a:pt x="2089424" y="0"/>
                </a:moveTo>
                <a:lnTo>
                  <a:pt x="2089424" y="453333"/>
                </a:lnTo>
                <a:lnTo>
                  <a:pt x="2037039" y="455968"/>
                </a:lnTo>
                <a:cubicBezTo>
                  <a:pt x="1221286" y="538497"/>
                  <a:pt x="572762" y="1184550"/>
                  <a:pt x="489918" y="1997195"/>
                </a:cubicBezTo>
                <a:lnTo>
                  <a:pt x="485990" y="2074678"/>
                </a:lnTo>
                <a:lnTo>
                  <a:pt x="0" y="2074678"/>
                </a:lnTo>
                <a:lnTo>
                  <a:pt x="6365" y="1950853"/>
                </a:lnTo>
                <a:cubicBezTo>
                  <a:pt x="112441" y="924893"/>
                  <a:pt x="942829" y="109255"/>
                  <a:pt x="1987342" y="5063"/>
                </a:cubicBezTo>
                <a:close/>
              </a:path>
            </a:pathLst>
          </a:custGeom>
        </p:spPr>
      </p:pic>
      <p:pic>
        <p:nvPicPr>
          <p:cNvPr id="75" name="Picture 74" descr="A crowd of people at a concert&#10;&#10;Description automatically generated">
            <a:extLst>
              <a:ext uri="{FF2B5EF4-FFF2-40B4-BE49-F238E27FC236}">
                <a16:creationId xmlns:a16="http://schemas.microsoft.com/office/drawing/2014/main" id="{AD42F8EE-51E4-118F-3909-09B344997F1A}"/>
              </a:ext>
            </a:extLst>
          </p:cNvPr>
          <p:cNvPicPr>
            <a:picLocks noChangeAspect="1"/>
          </p:cNvPicPr>
          <p:nvPr/>
        </p:nvPicPr>
        <p:blipFill>
          <a:blip r:embed="rId3" cstate="hqprint">
            <a:extLst>
              <a:ext uri="{28A0092B-C50C-407E-A947-70E740481C1C}">
                <a14:useLocalDpi xmlns:a14="http://schemas.microsoft.com/office/drawing/2010/main" val="0"/>
              </a:ext>
            </a:extLst>
          </a:blip>
          <a:srcRect r="29639" b="4166"/>
          <a:stretch>
            <a:fillRect/>
          </a:stretch>
        </p:blipFill>
        <p:spPr>
          <a:xfrm>
            <a:off x="6338161" y="3704234"/>
            <a:ext cx="2906555" cy="2482124"/>
          </a:xfrm>
          <a:custGeom>
            <a:avLst/>
            <a:gdLst>
              <a:gd name="connsiteX0" fmla="*/ 1584877 w 2070878"/>
              <a:gd name="connsiteY0" fmla="*/ 0 h 1916767"/>
              <a:gd name="connsiteX1" fmla="*/ 2070878 w 2070878"/>
              <a:gd name="connsiteY1" fmla="*/ 0 h 1916767"/>
              <a:gd name="connsiteX2" fmla="*/ 2063721 w 2070878"/>
              <a:gd name="connsiteY2" fmla="*/ 127729 h 1916767"/>
              <a:gd name="connsiteX3" fmla="*/ 82744 w 2070878"/>
              <a:gd name="connsiteY3" fmla="*/ 1913002 h 1916767"/>
              <a:gd name="connsiteX4" fmla="*/ 0 w 2070878"/>
              <a:gd name="connsiteY4" fmla="*/ 1916767 h 1916767"/>
              <a:gd name="connsiteX5" fmla="*/ 0 w 2070878"/>
              <a:gd name="connsiteY5" fmla="*/ 1500819 h 1916767"/>
              <a:gd name="connsiteX6" fmla="*/ 33047 w 2070878"/>
              <a:gd name="connsiteY6" fmla="*/ 1499293 h 1916767"/>
              <a:gd name="connsiteX7" fmla="*/ 1580169 w 2070878"/>
              <a:gd name="connsiteY7" fmla="*/ 85210 h 191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0878" h="1916767">
                <a:moveTo>
                  <a:pt x="1584877" y="0"/>
                </a:moveTo>
                <a:lnTo>
                  <a:pt x="2070878" y="0"/>
                </a:lnTo>
                <a:lnTo>
                  <a:pt x="2063721" y="127729"/>
                </a:lnTo>
                <a:cubicBezTo>
                  <a:pt x="1957645" y="1069053"/>
                  <a:pt x="1127257" y="1817405"/>
                  <a:pt x="82744" y="1913002"/>
                </a:cubicBezTo>
                <a:lnTo>
                  <a:pt x="0" y="1916767"/>
                </a:lnTo>
                <a:lnTo>
                  <a:pt x="0" y="1500819"/>
                </a:lnTo>
                <a:lnTo>
                  <a:pt x="33047" y="1499293"/>
                </a:lnTo>
                <a:cubicBezTo>
                  <a:pt x="848801" y="1423573"/>
                  <a:pt x="1497325" y="830816"/>
                  <a:pt x="1580169" y="85210"/>
                </a:cubicBezTo>
                <a:close/>
              </a:path>
            </a:pathLst>
          </a:custGeom>
        </p:spPr>
      </p:pic>
      <p:pic>
        <p:nvPicPr>
          <p:cNvPr id="74" name="Picture 73" descr="A person holding money on a table&#10;&#10;Description automatically generated">
            <a:extLst>
              <a:ext uri="{FF2B5EF4-FFF2-40B4-BE49-F238E27FC236}">
                <a16:creationId xmlns:a16="http://schemas.microsoft.com/office/drawing/2014/main" id="{E6BF4424-3C47-DF2D-3130-67291350EC2B}"/>
              </a:ext>
            </a:extLst>
          </p:cNvPr>
          <p:cNvPicPr>
            <a:picLocks noChangeAspect="1"/>
          </p:cNvPicPr>
          <p:nvPr/>
        </p:nvPicPr>
        <p:blipFill>
          <a:blip r:embed="rId4" cstate="hqprint">
            <a:extLst>
              <a:ext uri="{28A0092B-C50C-407E-A947-70E740481C1C}">
                <a14:useLocalDpi xmlns:a14="http://schemas.microsoft.com/office/drawing/2010/main" val="0"/>
              </a:ext>
            </a:extLst>
          </a:blip>
          <a:srcRect l="-4141" t="3748" r="21983" b="-3390"/>
          <a:stretch/>
        </p:blipFill>
        <p:spPr>
          <a:xfrm>
            <a:off x="6338161" y="666974"/>
            <a:ext cx="2899618" cy="2580773"/>
          </a:xfrm>
          <a:custGeom>
            <a:avLst/>
            <a:gdLst>
              <a:gd name="connsiteX0" fmla="*/ 0 w 2065935"/>
              <a:gd name="connsiteY0" fmla="*/ 0 h 1992947"/>
              <a:gd name="connsiteX1" fmla="*/ 82745 w 2065935"/>
              <a:gd name="connsiteY1" fmla="*/ 4104 h 1992947"/>
              <a:gd name="connsiteX2" fmla="*/ 2063722 w 2065935"/>
              <a:gd name="connsiteY2" fmla="*/ 1949894 h 1992947"/>
              <a:gd name="connsiteX3" fmla="*/ 2065935 w 2065935"/>
              <a:gd name="connsiteY3" fmla="*/ 1992947 h 1992947"/>
              <a:gd name="connsiteX4" fmla="*/ 1579667 w 2065935"/>
              <a:gd name="connsiteY4" fmla="*/ 1992947 h 1992947"/>
              <a:gd name="connsiteX5" fmla="*/ 1553905 w 2065935"/>
              <a:gd name="connsiteY5" fmla="*/ 1824792 h 1992947"/>
              <a:gd name="connsiteX6" fmla="*/ 33048 w 2065935"/>
              <a:gd name="connsiteY6" fmla="*/ 455009 h 1992947"/>
              <a:gd name="connsiteX7" fmla="*/ 0 w 2065935"/>
              <a:gd name="connsiteY7" fmla="*/ 453347 h 199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935" h="1992947">
                <a:moveTo>
                  <a:pt x="0" y="0"/>
                </a:moveTo>
                <a:lnTo>
                  <a:pt x="82745" y="4104"/>
                </a:lnTo>
                <a:cubicBezTo>
                  <a:pt x="1127258" y="108296"/>
                  <a:pt x="1957646" y="923934"/>
                  <a:pt x="2063722" y="1949894"/>
                </a:cubicBezTo>
                <a:lnTo>
                  <a:pt x="2065935" y="1992947"/>
                </a:lnTo>
                <a:lnTo>
                  <a:pt x="1579667" y="1992947"/>
                </a:lnTo>
                <a:lnTo>
                  <a:pt x="1553905" y="1824792"/>
                </a:lnTo>
                <a:cubicBezTo>
                  <a:pt x="1403827" y="1094173"/>
                  <a:pt x="790534" y="531643"/>
                  <a:pt x="33048" y="455009"/>
                </a:cubicBezTo>
                <a:lnTo>
                  <a:pt x="0" y="453347"/>
                </a:lnTo>
                <a:close/>
              </a:path>
            </a:pathLst>
          </a:custGeom>
        </p:spPr>
      </p:pic>
      <p:pic>
        <p:nvPicPr>
          <p:cNvPr id="72" name="Picture 71" descr="A large crowd of people at a concert&#10;&#10;Description automatically generated">
            <a:extLst>
              <a:ext uri="{FF2B5EF4-FFF2-40B4-BE49-F238E27FC236}">
                <a16:creationId xmlns:a16="http://schemas.microsoft.com/office/drawing/2014/main" id="{2EED923D-43CD-08F1-92BB-E0312E2AF3C4}"/>
              </a:ext>
            </a:extLst>
          </p:cNvPr>
          <p:cNvPicPr>
            <a:picLocks noChangeAspect="1"/>
          </p:cNvPicPr>
          <p:nvPr/>
        </p:nvPicPr>
        <p:blipFill>
          <a:blip r:embed="rId5" cstate="hqprint">
            <a:extLst>
              <a:ext uri="{28A0092B-C50C-407E-A947-70E740481C1C}">
                <a14:useLocalDpi xmlns:a14="http://schemas.microsoft.com/office/drawing/2010/main" val="0"/>
              </a:ext>
            </a:extLst>
          </a:blip>
          <a:srcRect l="18696" t="3213" r="1609" b="11437"/>
          <a:stretch/>
        </p:blipFill>
        <p:spPr>
          <a:xfrm>
            <a:off x="2947284" y="3698694"/>
            <a:ext cx="3047709" cy="2493575"/>
          </a:xfrm>
          <a:custGeom>
            <a:avLst/>
            <a:gdLst>
              <a:gd name="connsiteX0" fmla="*/ 0 w 2171448"/>
              <a:gd name="connsiteY0" fmla="*/ 0 h 1925610"/>
              <a:gd name="connsiteX1" fmla="*/ 486005 w 2171448"/>
              <a:gd name="connsiteY1" fmla="*/ 0 h 1925610"/>
              <a:gd name="connsiteX2" fmla="*/ 490949 w 2171448"/>
              <a:gd name="connsiteY2" fmla="*/ 89487 h 1925610"/>
              <a:gd name="connsiteX3" fmla="*/ 2038070 w 2171448"/>
              <a:gd name="connsiteY3" fmla="*/ 1503570 h 1925610"/>
              <a:gd name="connsiteX4" fmla="*/ 2171448 w 2171448"/>
              <a:gd name="connsiteY4" fmla="*/ 1509726 h 1925610"/>
              <a:gd name="connsiteX5" fmla="*/ 2171448 w 2171448"/>
              <a:gd name="connsiteY5" fmla="*/ 1925610 h 1925610"/>
              <a:gd name="connsiteX6" fmla="*/ 1988373 w 2171448"/>
              <a:gd name="connsiteY6" fmla="*/ 1917279 h 1925610"/>
              <a:gd name="connsiteX7" fmla="*/ 7396 w 2171448"/>
              <a:gd name="connsiteY7" fmla="*/ 132006 h 19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1448" h="1925610">
                <a:moveTo>
                  <a:pt x="0" y="0"/>
                </a:moveTo>
                <a:lnTo>
                  <a:pt x="486005" y="0"/>
                </a:lnTo>
                <a:lnTo>
                  <a:pt x="490949" y="89487"/>
                </a:lnTo>
                <a:cubicBezTo>
                  <a:pt x="573793" y="835093"/>
                  <a:pt x="1222317" y="1427850"/>
                  <a:pt x="2038070" y="1503570"/>
                </a:cubicBezTo>
                <a:lnTo>
                  <a:pt x="2171448" y="1509726"/>
                </a:lnTo>
                <a:lnTo>
                  <a:pt x="2171448" y="1925610"/>
                </a:lnTo>
                <a:lnTo>
                  <a:pt x="1988373" y="1917279"/>
                </a:lnTo>
                <a:cubicBezTo>
                  <a:pt x="943860" y="1821682"/>
                  <a:pt x="113472" y="1073330"/>
                  <a:pt x="7396" y="132006"/>
                </a:cubicBezTo>
                <a:close/>
              </a:path>
            </a:pathLst>
          </a:custGeom>
        </p:spPr>
      </p:pic>
      <p:sp>
        <p:nvSpPr>
          <p:cNvPr id="79" name="TextBox 78">
            <a:extLst>
              <a:ext uri="{FF2B5EF4-FFF2-40B4-BE49-F238E27FC236}">
                <a16:creationId xmlns:a16="http://schemas.microsoft.com/office/drawing/2014/main" id="{ED37BD9B-B37F-A6F1-ED0F-F0CA42DF941C}"/>
              </a:ext>
            </a:extLst>
          </p:cNvPr>
          <p:cNvSpPr txBox="1"/>
          <p:nvPr/>
        </p:nvSpPr>
        <p:spPr>
          <a:xfrm>
            <a:off x="5013529" y="2867697"/>
            <a:ext cx="2306099" cy="830997"/>
          </a:xfrm>
          <a:prstGeom prst="rect">
            <a:avLst/>
          </a:prstGeom>
          <a:noFill/>
        </p:spPr>
        <p:txBody>
          <a:bodyPr wrap="square" rtlCol="0">
            <a:spAutoFit/>
          </a:bodyPr>
          <a:lstStyle/>
          <a:p>
            <a:pPr algn="ctr"/>
            <a:r>
              <a:rPr lang="en-IN" sz="4800" dirty="0">
                <a:latin typeface="ADLaM Display" panose="02010000000000000000" pitchFamily="2" charset="0"/>
                <a:ea typeface="ADLaM Display" panose="02010000000000000000" pitchFamily="2" charset="0"/>
                <a:cs typeface="ADLaM Display" panose="02010000000000000000" pitchFamily="2" charset="0"/>
              </a:rPr>
              <a:t>Tables</a:t>
            </a:r>
          </a:p>
        </p:txBody>
      </p:sp>
    </p:spTree>
    <p:extLst>
      <p:ext uri="{BB962C8B-B14F-4D97-AF65-F5344CB8AC3E}">
        <p14:creationId xmlns:p14="http://schemas.microsoft.com/office/powerpoint/2010/main" val="7733725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5A4067B6-74F7-C70F-1941-B8A7EB93162F}"/>
              </a:ext>
            </a:extLst>
          </p:cNvPr>
          <p:cNvGrpSpPr/>
          <p:nvPr/>
        </p:nvGrpSpPr>
        <p:grpSpPr>
          <a:xfrm rot="16745447">
            <a:off x="-1516040" y="1026080"/>
            <a:ext cx="4916460" cy="4746022"/>
            <a:chOff x="3728311" y="1255261"/>
            <a:chExt cx="4916460" cy="4508546"/>
          </a:xfrm>
        </p:grpSpPr>
        <p:pic>
          <p:nvPicPr>
            <p:cNvPr id="76" name="Picture 75" descr="A reserved sign on a table&#10;&#10;Description automatically generated">
              <a:extLst>
                <a:ext uri="{FF2B5EF4-FFF2-40B4-BE49-F238E27FC236}">
                  <a16:creationId xmlns:a16="http://schemas.microsoft.com/office/drawing/2014/main" id="{A44F6D00-4FF4-8D82-5AEF-8819F48B9319}"/>
                </a:ext>
              </a:extLst>
            </p:cNvPr>
            <p:cNvPicPr>
              <a:picLocks noChangeAspect="1"/>
            </p:cNvPicPr>
            <p:nvPr/>
          </p:nvPicPr>
          <p:blipFill>
            <a:blip r:embed="rId2" cstate="hqprint">
              <a:extLst>
                <a:ext uri="{28A0092B-C50C-407E-A947-70E740481C1C}">
                  <a14:useLocalDpi xmlns:a14="http://schemas.microsoft.com/office/drawing/2010/main" val="0"/>
                </a:ext>
              </a:extLst>
            </a:blip>
            <a:srcRect l="20310" t="13703"/>
            <a:stretch>
              <a:fillRect/>
            </a:stretch>
          </p:blipFill>
          <p:spPr>
            <a:xfrm>
              <a:off x="3729342" y="1255261"/>
              <a:ext cx="2089424" cy="2074678"/>
            </a:xfrm>
            <a:custGeom>
              <a:avLst/>
              <a:gdLst>
                <a:gd name="connsiteX0" fmla="*/ 2089424 w 2089424"/>
                <a:gd name="connsiteY0" fmla="*/ 0 h 2074678"/>
                <a:gd name="connsiteX1" fmla="*/ 2089424 w 2089424"/>
                <a:gd name="connsiteY1" fmla="*/ 453333 h 2074678"/>
                <a:gd name="connsiteX2" fmla="*/ 2037039 w 2089424"/>
                <a:gd name="connsiteY2" fmla="*/ 455968 h 2074678"/>
                <a:gd name="connsiteX3" fmla="*/ 489918 w 2089424"/>
                <a:gd name="connsiteY3" fmla="*/ 1997195 h 2074678"/>
                <a:gd name="connsiteX4" fmla="*/ 485990 w 2089424"/>
                <a:gd name="connsiteY4" fmla="*/ 2074678 h 2074678"/>
                <a:gd name="connsiteX5" fmla="*/ 0 w 2089424"/>
                <a:gd name="connsiteY5" fmla="*/ 2074678 h 2074678"/>
                <a:gd name="connsiteX6" fmla="*/ 6365 w 2089424"/>
                <a:gd name="connsiteY6" fmla="*/ 1950853 h 2074678"/>
                <a:gd name="connsiteX7" fmla="*/ 1987342 w 2089424"/>
                <a:gd name="connsiteY7" fmla="*/ 5063 h 2074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9424" h="2074678">
                  <a:moveTo>
                    <a:pt x="2089424" y="0"/>
                  </a:moveTo>
                  <a:lnTo>
                    <a:pt x="2089424" y="453333"/>
                  </a:lnTo>
                  <a:lnTo>
                    <a:pt x="2037039" y="455968"/>
                  </a:lnTo>
                  <a:cubicBezTo>
                    <a:pt x="1221286" y="538497"/>
                    <a:pt x="572762" y="1184550"/>
                    <a:pt x="489918" y="1997195"/>
                  </a:cubicBezTo>
                  <a:lnTo>
                    <a:pt x="485990" y="2074678"/>
                  </a:lnTo>
                  <a:lnTo>
                    <a:pt x="0" y="2074678"/>
                  </a:lnTo>
                  <a:lnTo>
                    <a:pt x="6365" y="1950853"/>
                  </a:lnTo>
                  <a:cubicBezTo>
                    <a:pt x="112441" y="924893"/>
                    <a:pt x="942829" y="109255"/>
                    <a:pt x="1987342" y="5063"/>
                  </a:cubicBezTo>
                  <a:close/>
                </a:path>
              </a:pathLst>
            </a:custGeom>
          </p:spPr>
        </p:pic>
        <p:pic>
          <p:nvPicPr>
            <p:cNvPr id="75" name="Picture 74" descr="A crowd of people at a concert&#10;&#10;Description automatically generated">
              <a:extLst>
                <a:ext uri="{FF2B5EF4-FFF2-40B4-BE49-F238E27FC236}">
                  <a16:creationId xmlns:a16="http://schemas.microsoft.com/office/drawing/2014/main" id="{AD42F8EE-51E4-118F-3909-09B344997F1A}"/>
                </a:ext>
              </a:extLst>
            </p:cNvPr>
            <p:cNvPicPr>
              <a:picLocks noChangeAspect="1"/>
            </p:cNvPicPr>
            <p:nvPr/>
          </p:nvPicPr>
          <p:blipFill>
            <a:blip r:embed="rId3" cstate="hqprint">
              <a:extLst>
                <a:ext uri="{28A0092B-C50C-407E-A947-70E740481C1C}">
                  <a14:useLocalDpi xmlns:a14="http://schemas.microsoft.com/office/drawing/2010/main" val="0"/>
                </a:ext>
              </a:extLst>
            </a:blip>
            <a:srcRect r="29639" b="4166"/>
            <a:stretch>
              <a:fillRect/>
            </a:stretch>
          </p:blipFill>
          <p:spPr>
            <a:xfrm>
              <a:off x="6090927" y="3400015"/>
              <a:ext cx="2553844" cy="2363792"/>
            </a:xfrm>
            <a:custGeom>
              <a:avLst/>
              <a:gdLst>
                <a:gd name="connsiteX0" fmla="*/ 1584877 w 2070878"/>
                <a:gd name="connsiteY0" fmla="*/ 0 h 1916767"/>
                <a:gd name="connsiteX1" fmla="*/ 2070878 w 2070878"/>
                <a:gd name="connsiteY1" fmla="*/ 0 h 1916767"/>
                <a:gd name="connsiteX2" fmla="*/ 2063721 w 2070878"/>
                <a:gd name="connsiteY2" fmla="*/ 127729 h 1916767"/>
                <a:gd name="connsiteX3" fmla="*/ 82744 w 2070878"/>
                <a:gd name="connsiteY3" fmla="*/ 1913002 h 1916767"/>
                <a:gd name="connsiteX4" fmla="*/ 0 w 2070878"/>
                <a:gd name="connsiteY4" fmla="*/ 1916767 h 1916767"/>
                <a:gd name="connsiteX5" fmla="*/ 0 w 2070878"/>
                <a:gd name="connsiteY5" fmla="*/ 1500819 h 1916767"/>
                <a:gd name="connsiteX6" fmla="*/ 33047 w 2070878"/>
                <a:gd name="connsiteY6" fmla="*/ 1499293 h 1916767"/>
                <a:gd name="connsiteX7" fmla="*/ 1580169 w 2070878"/>
                <a:gd name="connsiteY7" fmla="*/ 85210 h 191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0878" h="1916767">
                  <a:moveTo>
                    <a:pt x="1584877" y="0"/>
                  </a:moveTo>
                  <a:lnTo>
                    <a:pt x="2070878" y="0"/>
                  </a:lnTo>
                  <a:lnTo>
                    <a:pt x="2063721" y="127729"/>
                  </a:lnTo>
                  <a:cubicBezTo>
                    <a:pt x="1957645" y="1069053"/>
                    <a:pt x="1127257" y="1817405"/>
                    <a:pt x="82744" y="1913002"/>
                  </a:cubicBezTo>
                  <a:lnTo>
                    <a:pt x="0" y="1916767"/>
                  </a:lnTo>
                  <a:lnTo>
                    <a:pt x="0" y="1500819"/>
                  </a:lnTo>
                  <a:lnTo>
                    <a:pt x="33047" y="1499293"/>
                  </a:lnTo>
                  <a:cubicBezTo>
                    <a:pt x="848801" y="1423573"/>
                    <a:pt x="1497325" y="830816"/>
                    <a:pt x="1580169" y="85210"/>
                  </a:cubicBezTo>
                  <a:close/>
                </a:path>
              </a:pathLst>
            </a:custGeom>
          </p:spPr>
        </p:pic>
        <p:pic>
          <p:nvPicPr>
            <p:cNvPr id="74" name="Picture 73" descr="A person holding money on a table&#10;&#10;Description automatically generated">
              <a:extLst>
                <a:ext uri="{FF2B5EF4-FFF2-40B4-BE49-F238E27FC236}">
                  <a16:creationId xmlns:a16="http://schemas.microsoft.com/office/drawing/2014/main" id="{E6BF4424-3C47-DF2D-3130-67291350EC2B}"/>
                </a:ext>
              </a:extLst>
            </p:cNvPr>
            <p:cNvPicPr>
              <a:picLocks noChangeAspect="1"/>
            </p:cNvPicPr>
            <p:nvPr/>
          </p:nvPicPr>
          <p:blipFill>
            <a:blip r:embed="rId4" cstate="hqprint">
              <a:extLst>
                <a:ext uri="{28A0092B-C50C-407E-A947-70E740481C1C}">
                  <a14:useLocalDpi xmlns:a14="http://schemas.microsoft.com/office/drawing/2010/main" val="0"/>
                </a:ext>
              </a:extLst>
            </a:blip>
            <a:srcRect l="-4141" t="3748" r="21983" b="-3390"/>
            <a:stretch/>
          </p:blipFill>
          <p:spPr>
            <a:xfrm>
              <a:off x="6144261" y="1256221"/>
              <a:ext cx="2065935" cy="1992947"/>
            </a:xfrm>
            <a:custGeom>
              <a:avLst/>
              <a:gdLst>
                <a:gd name="connsiteX0" fmla="*/ 0 w 2065935"/>
                <a:gd name="connsiteY0" fmla="*/ 0 h 1992947"/>
                <a:gd name="connsiteX1" fmla="*/ 82745 w 2065935"/>
                <a:gd name="connsiteY1" fmla="*/ 4104 h 1992947"/>
                <a:gd name="connsiteX2" fmla="*/ 2063722 w 2065935"/>
                <a:gd name="connsiteY2" fmla="*/ 1949894 h 1992947"/>
                <a:gd name="connsiteX3" fmla="*/ 2065935 w 2065935"/>
                <a:gd name="connsiteY3" fmla="*/ 1992947 h 1992947"/>
                <a:gd name="connsiteX4" fmla="*/ 1579667 w 2065935"/>
                <a:gd name="connsiteY4" fmla="*/ 1992947 h 1992947"/>
                <a:gd name="connsiteX5" fmla="*/ 1553905 w 2065935"/>
                <a:gd name="connsiteY5" fmla="*/ 1824792 h 1992947"/>
                <a:gd name="connsiteX6" fmla="*/ 33048 w 2065935"/>
                <a:gd name="connsiteY6" fmla="*/ 455009 h 1992947"/>
                <a:gd name="connsiteX7" fmla="*/ 0 w 2065935"/>
                <a:gd name="connsiteY7" fmla="*/ 453347 h 199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935" h="1992947">
                  <a:moveTo>
                    <a:pt x="0" y="0"/>
                  </a:moveTo>
                  <a:lnTo>
                    <a:pt x="82745" y="4104"/>
                  </a:lnTo>
                  <a:cubicBezTo>
                    <a:pt x="1127258" y="108296"/>
                    <a:pt x="1957646" y="923934"/>
                    <a:pt x="2063722" y="1949894"/>
                  </a:cubicBezTo>
                  <a:lnTo>
                    <a:pt x="2065935" y="1992947"/>
                  </a:lnTo>
                  <a:lnTo>
                    <a:pt x="1579667" y="1992947"/>
                  </a:lnTo>
                  <a:lnTo>
                    <a:pt x="1553905" y="1824792"/>
                  </a:lnTo>
                  <a:cubicBezTo>
                    <a:pt x="1403827" y="1094173"/>
                    <a:pt x="790534" y="531643"/>
                    <a:pt x="33048" y="455009"/>
                  </a:cubicBezTo>
                  <a:lnTo>
                    <a:pt x="0" y="453347"/>
                  </a:lnTo>
                  <a:close/>
                </a:path>
              </a:pathLst>
            </a:custGeom>
          </p:spPr>
        </p:pic>
        <p:pic>
          <p:nvPicPr>
            <p:cNvPr id="72" name="Picture 71" descr="A large crowd of people at a concert&#10;&#10;Description automatically generated">
              <a:extLst>
                <a:ext uri="{FF2B5EF4-FFF2-40B4-BE49-F238E27FC236}">
                  <a16:creationId xmlns:a16="http://schemas.microsoft.com/office/drawing/2014/main" id="{2EED923D-43CD-08F1-92BB-E0312E2AF3C4}"/>
                </a:ext>
              </a:extLst>
            </p:cNvPr>
            <p:cNvPicPr>
              <a:picLocks noChangeAspect="1"/>
            </p:cNvPicPr>
            <p:nvPr/>
          </p:nvPicPr>
          <p:blipFill>
            <a:blip r:embed="rId5" cstate="hqprint">
              <a:extLst>
                <a:ext uri="{28A0092B-C50C-407E-A947-70E740481C1C}">
                  <a14:useLocalDpi xmlns:a14="http://schemas.microsoft.com/office/drawing/2010/main" val="0"/>
                </a:ext>
              </a:extLst>
            </a:blip>
            <a:srcRect l="18696" t="3213" r="1609" b="11437"/>
            <a:stretch/>
          </p:blipFill>
          <p:spPr>
            <a:xfrm>
              <a:off x="3728311" y="3597403"/>
              <a:ext cx="2171448" cy="1925610"/>
            </a:xfrm>
            <a:custGeom>
              <a:avLst/>
              <a:gdLst>
                <a:gd name="connsiteX0" fmla="*/ 0 w 2171448"/>
                <a:gd name="connsiteY0" fmla="*/ 0 h 1925610"/>
                <a:gd name="connsiteX1" fmla="*/ 486005 w 2171448"/>
                <a:gd name="connsiteY1" fmla="*/ 0 h 1925610"/>
                <a:gd name="connsiteX2" fmla="*/ 490949 w 2171448"/>
                <a:gd name="connsiteY2" fmla="*/ 89487 h 1925610"/>
                <a:gd name="connsiteX3" fmla="*/ 2038070 w 2171448"/>
                <a:gd name="connsiteY3" fmla="*/ 1503570 h 1925610"/>
                <a:gd name="connsiteX4" fmla="*/ 2171448 w 2171448"/>
                <a:gd name="connsiteY4" fmla="*/ 1509726 h 1925610"/>
                <a:gd name="connsiteX5" fmla="*/ 2171448 w 2171448"/>
                <a:gd name="connsiteY5" fmla="*/ 1925610 h 1925610"/>
                <a:gd name="connsiteX6" fmla="*/ 1988373 w 2171448"/>
                <a:gd name="connsiteY6" fmla="*/ 1917279 h 1925610"/>
                <a:gd name="connsiteX7" fmla="*/ 7396 w 2171448"/>
                <a:gd name="connsiteY7" fmla="*/ 132006 h 19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1448" h="1925610">
                  <a:moveTo>
                    <a:pt x="0" y="0"/>
                  </a:moveTo>
                  <a:lnTo>
                    <a:pt x="486005" y="0"/>
                  </a:lnTo>
                  <a:lnTo>
                    <a:pt x="490949" y="89487"/>
                  </a:lnTo>
                  <a:cubicBezTo>
                    <a:pt x="573793" y="835093"/>
                    <a:pt x="1222317" y="1427850"/>
                    <a:pt x="2038070" y="1503570"/>
                  </a:cubicBezTo>
                  <a:lnTo>
                    <a:pt x="2171448" y="1509726"/>
                  </a:lnTo>
                  <a:lnTo>
                    <a:pt x="2171448" y="1925610"/>
                  </a:lnTo>
                  <a:lnTo>
                    <a:pt x="1988373" y="1917279"/>
                  </a:lnTo>
                  <a:cubicBezTo>
                    <a:pt x="943860" y="1821682"/>
                    <a:pt x="113472" y="1073330"/>
                    <a:pt x="7396" y="132006"/>
                  </a:cubicBezTo>
                  <a:close/>
                </a:path>
              </a:pathLst>
            </a:custGeom>
          </p:spPr>
        </p:pic>
      </p:grpSp>
      <p:sp>
        <p:nvSpPr>
          <p:cNvPr id="79" name="TextBox 78">
            <a:extLst>
              <a:ext uri="{FF2B5EF4-FFF2-40B4-BE49-F238E27FC236}">
                <a16:creationId xmlns:a16="http://schemas.microsoft.com/office/drawing/2014/main" id="{ED37BD9B-B37F-A6F1-ED0F-F0CA42DF941C}"/>
              </a:ext>
            </a:extLst>
          </p:cNvPr>
          <p:cNvSpPr txBox="1"/>
          <p:nvPr/>
        </p:nvSpPr>
        <p:spPr>
          <a:xfrm>
            <a:off x="381000" y="3008057"/>
            <a:ext cx="1452642" cy="584775"/>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Tables</a:t>
            </a:r>
          </a:p>
        </p:txBody>
      </p:sp>
      <p:sp>
        <p:nvSpPr>
          <p:cNvPr id="3" name="TextBox 2">
            <a:extLst>
              <a:ext uri="{FF2B5EF4-FFF2-40B4-BE49-F238E27FC236}">
                <a16:creationId xmlns:a16="http://schemas.microsoft.com/office/drawing/2014/main" id="{35EB59E4-9452-93BF-A3D2-12118B130F50}"/>
              </a:ext>
            </a:extLst>
          </p:cNvPr>
          <p:cNvSpPr txBox="1"/>
          <p:nvPr/>
        </p:nvSpPr>
        <p:spPr>
          <a:xfrm>
            <a:off x="2401352" y="661135"/>
            <a:ext cx="2015296" cy="584775"/>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Members</a:t>
            </a:r>
          </a:p>
        </p:txBody>
      </p:sp>
      <p:sp>
        <p:nvSpPr>
          <p:cNvPr id="5" name="TextBox 4">
            <a:extLst>
              <a:ext uri="{FF2B5EF4-FFF2-40B4-BE49-F238E27FC236}">
                <a16:creationId xmlns:a16="http://schemas.microsoft.com/office/drawing/2014/main" id="{7CF1E25F-F2E6-C3B9-B02D-8ABFADF5BA92}"/>
              </a:ext>
            </a:extLst>
          </p:cNvPr>
          <p:cNvSpPr txBox="1"/>
          <p:nvPr/>
        </p:nvSpPr>
        <p:spPr>
          <a:xfrm>
            <a:off x="3379758" y="1118773"/>
            <a:ext cx="7722492" cy="5755422"/>
          </a:xfrm>
          <a:prstGeom prst="rect">
            <a:avLst/>
          </a:prstGeom>
          <a:noFill/>
        </p:spPr>
        <p:txBody>
          <a:bodyPr wrap="square" rtlCol="0">
            <a:spAutoFit/>
          </a:bodyPr>
          <a:lstStyle/>
          <a:p>
            <a:pPr algn="ctr"/>
            <a:r>
              <a:rPr lang="en-IN" sz="1600" dirty="0">
                <a:latin typeface="Abadi" panose="020B0604020104020204" pitchFamily="34" charset="0"/>
                <a:ea typeface="ADLaM Display" panose="02010000000000000000" pitchFamily="2" charset="0"/>
                <a:cs typeface="ADLaM Display" panose="02010000000000000000" pitchFamily="2" charset="0"/>
              </a:rPr>
              <a:t>CREATE TABLE Members (    </a:t>
            </a:r>
            <a:r>
              <a:rPr lang="en-IN" sz="1600" dirty="0" err="1">
                <a:latin typeface="Abadi" panose="020B0604020104020204" pitchFamily="34" charset="0"/>
                <a:ea typeface="ADLaM Display" panose="02010000000000000000" pitchFamily="2" charset="0"/>
                <a:cs typeface="ADLaM Display" panose="02010000000000000000" pitchFamily="2" charset="0"/>
              </a:rPr>
              <a:t>member_id</a:t>
            </a:r>
            <a:r>
              <a:rPr lang="en-IN" sz="1600" dirty="0">
                <a:latin typeface="Abadi" panose="020B0604020104020204" pitchFamily="34" charset="0"/>
                <a:ea typeface="ADLaM Display" panose="02010000000000000000" pitchFamily="2" charset="0"/>
                <a:cs typeface="ADLaM Display" panose="02010000000000000000" pitchFamily="2" charset="0"/>
              </a:rPr>
              <a:t> INT PRIMARY KEY,    </a:t>
            </a:r>
            <a:r>
              <a:rPr lang="en-IN" sz="1600" dirty="0" err="1">
                <a:latin typeface="Abadi" panose="020B0604020104020204" pitchFamily="34" charset="0"/>
                <a:ea typeface="ADLaM Display" panose="02010000000000000000" pitchFamily="2" charset="0"/>
                <a:cs typeface="ADLaM Display" panose="02010000000000000000" pitchFamily="2" charset="0"/>
              </a:rPr>
              <a:t>first_name</a:t>
            </a:r>
            <a:r>
              <a:rPr lang="en-IN" sz="1600" dirty="0">
                <a:latin typeface="Abadi" panose="020B0604020104020204" pitchFamily="34" charset="0"/>
                <a:ea typeface="ADLaM Display" panose="02010000000000000000" pitchFamily="2" charset="0"/>
                <a:cs typeface="ADLaM Display" panose="02010000000000000000" pitchFamily="2" charset="0"/>
              </a:rPr>
              <a:t> VARCHAR(50),    </a:t>
            </a:r>
            <a:r>
              <a:rPr lang="en-IN" sz="1600" dirty="0" err="1">
                <a:latin typeface="Abadi" panose="020B0604020104020204" pitchFamily="34" charset="0"/>
                <a:ea typeface="ADLaM Display" panose="02010000000000000000" pitchFamily="2" charset="0"/>
                <a:cs typeface="ADLaM Display" panose="02010000000000000000" pitchFamily="2" charset="0"/>
              </a:rPr>
              <a:t>last_name</a:t>
            </a:r>
            <a:r>
              <a:rPr lang="en-IN" sz="1600" dirty="0">
                <a:latin typeface="Abadi" panose="020B0604020104020204" pitchFamily="34" charset="0"/>
                <a:ea typeface="ADLaM Display" panose="02010000000000000000" pitchFamily="2" charset="0"/>
                <a:cs typeface="ADLaM Display" panose="02010000000000000000" pitchFamily="2" charset="0"/>
              </a:rPr>
              <a:t> VARCHAR(50),    email VARCHAR(100),    </a:t>
            </a:r>
            <a:r>
              <a:rPr lang="en-IN" sz="1600" dirty="0" err="1">
                <a:latin typeface="Abadi" panose="020B0604020104020204" pitchFamily="34" charset="0"/>
                <a:ea typeface="ADLaM Display" panose="02010000000000000000" pitchFamily="2" charset="0"/>
                <a:cs typeface="ADLaM Display" panose="02010000000000000000" pitchFamily="2" charset="0"/>
              </a:rPr>
              <a:t>phone_number</a:t>
            </a:r>
            <a:r>
              <a:rPr lang="en-IN" sz="1600" dirty="0">
                <a:latin typeface="Abadi" panose="020B0604020104020204" pitchFamily="34" charset="0"/>
                <a:ea typeface="ADLaM Display" panose="02010000000000000000" pitchFamily="2" charset="0"/>
                <a:cs typeface="ADLaM Display" panose="02010000000000000000" pitchFamily="2" charset="0"/>
              </a:rPr>
              <a:t> VARCHAR(15),    </a:t>
            </a:r>
            <a:r>
              <a:rPr lang="en-IN" sz="1600" dirty="0" err="1">
                <a:latin typeface="Abadi" panose="020B0604020104020204" pitchFamily="34" charset="0"/>
                <a:ea typeface="ADLaM Display" panose="02010000000000000000" pitchFamily="2" charset="0"/>
                <a:cs typeface="ADLaM Display" panose="02010000000000000000" pitchFamily="2" charset="0"/>
              </a:rPr>
              <a:t>membership_date</a:t>
            </a:r>
            <a:r>
              <a:rPr lang="en-IN" sz="1600" dirty="0">
                <a:latin typeface="Abadi" panose="020B0604020104020204" pitchFamily="34" charset="0"/>
                <a:ea typeface="ADLaM Display" panose="02010000000000000000" pitchFamily="2" charset="0"/>
                <a:cs typeface="ADLaM Display" panose="02010000000000000000" pitchFamily="2" charset="0"/>
              </a:rPr>
              <a:t> DATE NOT NULL,    </a:t>
            </a:r>
            <a:r>
              <a:rPr lang="en-IN" sz="1600" dirty="0" err="1">
                <a:latin typeface="Abadi" panose="020B0604020104020204" pitchFamily="34" charset="0"/>
                <a:ea typeface="ADLaM Display" panose="02010000000000000000" pitchFamily="2" charset="0"/>
                <a:cs typeface="ADLaM Display" panose="02010000000000000000" pitchFamily="2" charset="0"/>
              </a:rPr>
              <a:t>membership_type</a:t>
            </a:r>
            <a:r>
              <a:rPr lang="en-IN" sz="1600" dirty="0">
                <a:latin typeface="Abadi" panose="020B0604020104020204" pitchFamily="34" charset="0"/>
                <a:ea typeface="ADLaM Display" panose="02010000000000000000" pitchFamily="2" charset="0"/>
                <a:cs typeface="ADLaM Display" panose="02010000000000000000" pitchFamily="2" charset="0"/>
              </a:rPr>
              <a:t> VARCHAR(20) CHECK (</a:t>
            </a:r>
            <a:r>
              <a:rPr lang="en-IN" sz="1600" dirty="0" err="1">
                <a:latin typeface="Abadi" panose="020B0604020104020204" pitchFamily="34" charset="0"/>
                <a:ea typeface="ADLaM Display" panose="02010000000000000000" pitchFamily="2" charset="0"/>
                <a:cs typeface="ADLaM Display" panose="02010000000000000000" pitchFamily="2" charset="0"/>
              </a:rPr>
              <a:t>membership_type</a:t>
            </a:r>
            <a:r>
              <a:rPr lang="en-IN" sz="1600" dirty="0">
                <a:latin typeface="Abadi" panose="020B0604020104020204" pitchFamily="34" charset="0"/>
                <a:ea typeface="ADLaM Display" panose="02010000000000000000" pitchFamily="2" charset="0"/>
                <a:cs typeface="ADLaM Display" panose="02010000000000000000" pitchFamily="2" charset="0"/>
              </a:rPr>
              <a:t> IN ('Regular', 'Premium')));INSERT INTO Members (</a:t>
            </a:r>
            <a:r>
              <a:rPr lang="en-IN" sz="1600" dirty="0" err="1">
                <a:latin typeface="Abadi" panose="020B0604020104020204" pitchFamily="34" charset="0"/>
                <a:ea typeface="ADLaM Display" panose="02010000000000000000" pitchFamily="2" charset="0"/>
                <a:cs typeface="ADLaM Display" panose="02010000000000000000" pitchFamily="2" charset="0"/>
              </a:rPr>
              <a:t>member_id</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first_name</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last_name</a:t>
            </a:r>
            <a:r>
              <a:rPr lang="en-IN" sz="1600" dirty="0">
                <a:latin typeface="Abadi" panose="020B0604020104020204" pitchFamily="34" charset="0"/>
                <a:ea typeface="ADLaM Display" panose="02010000000000000000" pitchFamily="2" charset="0"/>
                <a:cs typeface="ADLaM Display" panose="02010000000000000000" pitchFamily="2" charset="0"/>
              </a:rPr>
              <a:t>, email, </a:t>
            </a:r>
            <a:r>
              <a:rPr lang="en-IN" sz="1600" dirty="0" err="1">
                <a:latin typeface="Abadi" panose="020B0604020104020204" pitchFamily="34" charset="0"/>
                <a:ea typeface="ADLaM Display" panose="02010000000000000000" pitchFamily="2" charset="0"/>
                <a:cs typeface="ADLaM Display" panose="02010000000000000000" pitchFamily="2" charset="0"/>
              </a:rPr>
              <a:t>phone_number</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membership_date</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membership_type</a:t>
            </a:r>
            <a:r>
              <a:rPr lang="en-IN" sz="1600" dirty="0">
                <a:latin typeface="Abadi" panose="020B0604020104020204" pitchFamily="34" charset="0"/>
                <a:ea typeface="ADLaM Display" panose="02010000000000000000" pitchFamily="2" charset="0"/>
                <a:cs typeface="ADLaM Display" panose="02010000000000000000" pitchFamily="2" charset="0"/>
              </a:rPr>
              <a:t>) VALUES</a:t>
            </a:r>
          </a:p>
          <a:p>
            <a:pPr algn="ctr"/>
            <a:r>
              <a:rPr lang="en-IN" sz="1600" dirty="0">
                <a:latin typeface="Abadi" panose="020B0604020104020204" pitchFamily="34" charset="0"/>
                <a:ea typeface="ADLaM Display" panose="02010000000000000000" pitchFamily="2" charset="0"/>
                <a:cs typeface="ADLaM Display" panose="02010000000000000000" pitchFamily="2" charset="0"/>
              </a:rPr>
              <a:t>(1, 'Junaid', 'khan', 'khanjunaid09@gmail.com', '1234567890', '2023-01-15', 'Regular’),(2, '</a:t>
            </a:r>
            <a:r>
              <a:rPr lang="en-IN" sz="1600" dirty="0" err="1">
                <a:latin typeface="Abadi" panose="020B0604020104020204" pitchFamily="34" charset="0"/>
                <a:ea typeface="ADLaM Display" panose="02010000000000000000" pitchFamily="2" charset="0"/>
                <a:cs typeface="ADLaM Display" panose="02010000000000000000" pitchFamily="2" charset="0"/>
              </a:rPr>
              <a:t>Svetlena</a:t>
            </a:r>
            <a:r>
              <a:rPr lang="en-IN" sz="1600" dirty="0">
                <a:latin typeface="Abadi" panose="020B0604020104020204" pitchFamily="34" charset="0"/>
                <a:ea typeface="ADLaM Display" panose="02010000000000000000" pitchFamily="2" charset="0"/>
                <a:cs typeface="ADLaM Display" panose="02010000000000000000" pitchFamily="2" charset="0"/>
              </a:rPr>
              <a:t>', 'Singh', 'Svetlenasingh07gmail.com', '2345678901', '2023-02-10', 'Premium'),(3, '</a:t>
            </a:r>
            <a:r>
              <a:rPr lang="en-IN" sz="1600" dirty="0" err="1">
                <a:latin typeface="Abadi" panose="020B0604020104020204" pitchFamily="34" charset="0"/>
                <a:ea typeface="ADLaM Display" panose="02010000000000000000" pitchFamily="2" charset="0"/>
                <a:cs typeface="ADLaM Display" panose="02010000000000000000" pitchFamily="2" charset="0"/>
              </a:rPr>
              <a:t>afiya</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kaptan</a:t>
            </a:r>
            <a:r>
              <a:rPr lang="en-IN" sz="1600" dirty="0">
                <a:latin typeface="Abadi" panose="020B0604020104020204" pitchFamily="34" charset="0"/>
                <a:ea typeface="ADLaM Display" panose="02010000000000000000" pitchFamily="2" charset="0"/>
                <a:cs typeface="ADLaM Display" panose="02010000000000000000" pitchFamily="2" charset="0"/>
              </a:rPr>
              <a:t>', 'kaptabafiya21@gmail.com', '3456789012', '2023-03-05', 'Regular'),(4, '</a:t>
            </a:r>
            <a:r>
              <a:rPr lang="en-IN" sz="1600" dirty="0" err="1">
                <a:latin typeface="Abadi" panose="020B0604020104020204" pitchFamily="34" charset="0"/>
                <a:ea typeface="ADLaM Display" panose="02010000000000000000" pitchFamily="2" charset="0"/>
                <a:cs typeface="ADLaM Display" panose="02010000000000000000" pitchFamily="2" charset="0"/>
              </a:rPr>
              <a:t>afiya</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kaptan</a:t>
            </a:r>
            <a:r>
              <a:rPr lang="en-IN" sz="1600" dirty="0">
                <a:latin typeface="Abadi" panose="020B0604020104020204" pitchFamily="34" charset="0"/>
                <a:ea typeface="ADLaM Display" panose="02010000000000000000" pitchFamily="2" charset="0"/>
                <a:cs typeface="ADLaM Display" panose="02010000000000000000" pitchFamily="2" charset="0"/>
              </a:rPr>
              <a:t>', 'kaptabafiya21@gmail.com', '4567890123', '2023-04-20', 'Regular'),(5, '</a:t>
            </a:r>
            <a:r>
              <a:rPr lang="en-IN" sz="1600" dirty="0" err="1">
                <a:latin typeface="Abadi" panose="020B0604020104020204" pitchFamily="34" charset="0"/>
                <a:ea typeface="ADLaM Display" panose="02010000000000000000" pitchFamily="2" charset="0"/>
                <a:cs typeface="ADLaM Display" panose="02010000000000000000" pitchFamily="2" charset="0"/>
              </a:rPr>
              <a:t>minal</a:t>
            </a:r>
            <a:r>
              <a:rPr lang="en-IN" sz="1600" dirty="0">
                <a:latin typeface="Abadi" panose="020B0604020104020204" pitchFamily="34" charset="0"/>
                <a:ea typeface="ADLaM Display" panose="02010000000000000000" pitchFamily="2" charset="0"/>
                <a:cs typeface="ADLaM Display" panose="02010000000000000000" pitchFamily="2" charset="0"/>
              </a:rPr>
              <a:t>', 'shaikh', 'minalshaikh43@gmail.com', '5678901234', '2023-05-15', 'Premium'),(6, '</a:t>
            </a:r>
            <a:r>
              <a:rPr lang="en-IN" sz="1600" dirty="0" err="1">
                <a:latin typeface="Abadi" panose="020B0604020104020204" pitchFamily="34" charset="0"/>
                <a:ea typeface="ADLaM Display" panose="02010000000000000000" pitchFamily="2" charset="0"/>
                <a:cs typeface="ADLaM Display" panose="02010000000000000000" pitchFamily="2" charset="0"/>
              </a:rPr>
              <a:t>supriya</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yadav</a:t>
            </a:r>
            <a:r>
              <a:rPr lang="en-IN" sz="1600" dirty="0">
                <a:latin typeface="Abadi" panose="020B0604020104020204" pitchFamily="34" charset="0"/>
                <a:ea typeface="ADLaM Display" panose="02010000000000000000" pitchFamily="2" charset="0"/>
                <a:cs typeface="ADLaM Display" panose="02010000000000000000" pitchFamily="2" charset="0"/>
              </a:rPr>
              <a:t>', 'yadavsupriya33@gmail.com', '6789012345', '2023-06-10', 'Regular'),(7, '</a:t>
            </a:r>
            <a:r>
              <a:rPr lang="en-IN" sz="1600" dirty="0" err="1">
                <a:latin typeface="Abadi" panose="020B0604020104020204" pitchFamily="34" charset="0"/>
                <a:ea typeface="ADLaM Display" panose="02010000000000000000" pitchFamily="2" charset="0"/>
                <a:cs typeface="ADLaM Display" panose="02010000000000000000" pitchFamily="2" charset="0"/>
              </a:rPr>
              <a:t>junaid</a:t>
            </a:r>
            <a:r>
              <a:rPr lang="en-IN" sz="1600" dirty="0">
                <a:latin typeface="Abadi" panose="020B0604020104020204" pitchFamily="34" charset="0"/>
                <a:ea typeface="ADLaM Display" panose="02010000000000000000" pitchFamily="2" charset="0"/>
                <a:cs typeface="ADLaM Display" panose="02010000000000000000" pitchFamily="2" charset="0"/>
              </a:rPr>
              <a:t>', 'khan', 'khanjunaid09@gmail.com', '7890123456', '2023-07-25', 'Regular'),(8, 'prasad', '</a:t>
            </a:r>
            <a:r>
              <a:rPr lang="en-IN" sz="1600" dirty="0" err="1">
                <a:latin typeface="Abadi" panose="020B0604020104020204" pitchFamily="34" charset="0"/>
                <a:ea typeface="ADLaM Display" panose="02010000000000000000" pitchFamily="2" charset="0"/>
                <a:cs typeface="ADLaM Display" panose="02010000000000000000" pitchFamily="2" charset="0"/>
              </a:rPr>
              <a:t>kumbharkar</a:t>
            </a:r>
            <a:r>
              <a:rPr lang="en-IN" sz="1600" dirty="0">
                <a:latin typeface="Abadi" panose="020B0604020104020204" pitchFamily="34" charset="0"/>
                <a:ea typeface="ADLaM Display" panose="02010000000000000000" pitchFamily="2" charset="0"/>
                <a:cs typeface="ADLaM Display" panose="02010000000000000000" pitchFamily="2" charset="0"/>
              </a:rPr>
              <a:t>', 'prasadkumbharkar67@gmail.com', '8901234567', '2023-08-30', 'Premium'),(9, '</a:t>
            </a:r>
            <a:r>
              <a:rPr lang="en-IN" sz="1600" dirty="0" err="1">
                <a:latin typeface="Abadi" panose="020B0604020104020204" pitchFamily="34" charset="0"/>
                <a:ea typeface="ADLaM Display" panose="02010000000000000000" pitchFamily="2" charset="0"/>
                <a:cs typeface="ADLaM Display" panose="02010000000000000000" pitchFamily="2" charset="0"/>
              </a:rPr>
              <a:t>sumit</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sahelkar</a:t>
            </a:r>
            <a:r>
              <a:rPr lang="en-IN" sz="1600" dirty="0">
                <a:latin typeface="Abadi" panose="020B0604020104020204" pitchFamily="34" charset="0"/>
                <a:ea typeface="ADLaM Display" panose="02010000000000000000" pitchFamily="2" charset="0"/>
                <a:cs typeface="ADLaM Display" panose="02010000000000000000" pitchFamily="2" charset="0"/>
              </a:rPr>
              <a:t>', 'sumit87@gmail.com', '9012345678', '2023-09-15', 'Regular'),(10, '</a:t>
            </a:r>
            <a:r>
              <a:rPr lang="en-IN" sz="1600" dirty="0" err="1">
                <a:latin typeface="Abadi" panose="020B0604020104020204" pitchFamily="34" charset="0"/>
                <a:ea typeface="ADLaM Display" panose="02010000000000000000" pitchFamily="2" charset="0"/>
                <a:cs typeface="ADLaM Display" panose="02010000000000000000" pitchFamily="2" charset="0"/>
              </a:rPr>
              <a:t>sahil</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gupta</a:t>
            </a:r>
            <a:r>
              <a:rPr lang="en-IN" sz="1600" dirty="0">
                <a:latin typeface="Abadi" panose="020B0604020104020204" pitchFamily="34" charset="0"/>
                <a:ea typeface="ADLaM Display" panose="02010000000000000000" pitchFamily="2" charset="0"/>
                <a:cs typeface="ADLaM Display" panose="02010000000000000000" pitchFamily="2" charset="0"/>
              </a:rPr>
              <a:t>', 'sahilgupta5@gmail.com', '0123456789', '2023-09-20', 'Regular'),(11, '</a:t>
            </a:r>
            <a:r>
              <a:rPr lang="en-IN" sz="1600" dirty="0" err="1">
                <a:latin typeface="Abadi" panose="020B0604020104020204" pitchFamily="34" charset="0"/>
                <a:ea typeface="ADLaM Display" panose="02010000000000000000" pitchFamily="2" charset="0"/>
                <a:cs typeface="ADLaM Display" panose="02010000000000000000" pitchFamily="2" charset="0"/>
              </a:rPr>
              <a:t>sumit</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sahelkar</a:t>
            </a:r>
            <a:r>
              <a:rPr lang="en-IN" sz="1600" dirty="0">
                <a:latin typeface="Abadi" panose="020B0604020104020204" pitchFamily="34" charset="0"/>
                <a:ea typeface="ADLaM Display" panose="02010000000000000000" pitchFamily="2" charset="0"/>
                <a:cs typeface="ADLaM Display" panose="02010000000000000000" pitchFamily="2" charset="0"/>
              </a:rPr>
              <a:t>', 'sumit87@gmail.com', '1234567891', '2023-10-01', 'Premium'),(12, '</a:t>
            </a:r>
            <a:r>
              <a:rPr lang="en-IN" sz="1600" dirty="0" err="1">
                <a:latin typeface="Abadi" panose="020B0604020104020204" pitchFamily="34" charset="0"/>
                <a:ea typeface="ADLaM Display" panose="02010000000000000000" pitchFamily="2" charset="0"/>
                <a:cs typeface="ADLaM Display" panose="02010000000000000000" pitchFamily="2" charset="0"/>
              </a:rPr>
              <a:t>jassdeep</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kaur</a:t>
            </a:r>
            <a:r>
              <a:rPr lang="en-IN" sz="1600" dirty="0">
                <a:latin typeface="Abadi" panose="020B0604020104020204" pitchFamily="34" charset="0"/>
                <a:ea typeface="ADLaM Display" panose="02010000000000000000" pitchFamily="2" charset="0"/>
                <a:cs typeface="ADLaM Display" panose="02010000000000000000" pitchFamily="2" charset="0"/>
              </a:rPr>
              <a:t>', 'jassdeep34@gmail.com', '2345678902', '2023-10-02', 'Regular'),(13, '</a:t>
            </a:r>
            <a:r>
              <a:rPr lang="en-IN" sz="1600" dirty="0" err="1">
                <a:latin typeface="Abadi" panose="020B0604020104020204" pitchFamily="34" charset="0"/>
                <a:ea typeface="ADLaM Display" panose="02010000000000000000" pitchFamily="2" charset="0"/>
                <a:cs typeface="ADLaM Display" panose="02010000000000000000" pitchFamily="2" charset="0"/>
              </a:rPr>
              <a:t>jasdeep</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kaur</a:t>
            </a:r>
            <a:r>
              <a:rPr lang="en-IN" sz="1600" dirty="0">
                <a:latin typeface="Abadi" panose="020B0604020104020204" pitchFamily="34" charset="0"/>
                <a:ea typeface="ADLaM Display" panose="02010000000000000000" pitchFamily="2" charset="0"/>
                <a:cs typeface="ADLaM Display" panose="02010000000000000000" pitchFamily="2" charset="0"/>
              </a:rPr>
              <a:t>', 'jassdeep34@gmail.com', '3456789013', '2023-10-03', 'Regular'),(14, 'Junaid', 'khan', 'khanjunaid09@gmail.com', '4567890124', '2023-10-04', 'Premium'),(15, 'Junaid', 'khan', 'khanjunaid09@gmail.com', '5678901235', '2023-10-05', 'Regular');</a:t>
            </a:r>
          </a:p>
        </p:txBody>
      </p:sp>
    </p:spTree>
    <p:extLst>
      <p:ext uri="{BB962C8B-B14F-4D97-AF65-F5344CB8AC3E}">
        <p14:creationId xmlns:p14="http://schemas.microsoft.com/office/powerpoint/2010/main" val="93211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EB59E4-9452-93BF-A3D2-12118B130F50}"/>
              </a:ext>
            </a:extLst>
          </p:cNvPr>
          <p:cNvSpPr txBox="1"/>
          <p:nvPr/>
        </p:nvSpPr>
        <p:spPr>
          <a:xfrm>
            <a:off x="2182057" y="533998"/>
            <a:ext cx="2042547" cy="584775"/>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Payment </a:t>
            </a:r>
          </a:p>
        </p:txBody>
      </p:sp>
      <p:sp>
        <p:nvSpPr>
          <p:cNvPr id="5" name="TextBox 4">
            <a:extLst>
              <a:ext uri="{FF2B5EF4-FFF2-40B4-BE49-F238E27FC236}">
                <a16:creationId xmlns:a16="http://schemas.microsoft.com/office/drawing/2014/main" id="{7CF1E25F-F2E6-C3B9-B02D-8ABFADF5BA92}"/>
              </a:ext>
            </a:extLst>
          </p:cNvPr>
          <p:cNvSpPr txBox="1"/>
          <p:nvPr/>
        </p:nvSpPr>
        <p:spPr>
          <a:xfrm>
            <a:off x="3379758" y="1118773"/>
            <a:ext cx="7722492" cy="4278094"/>
          </a:xfrm>
          <a:prstGeom prst="rect">
            <a:avLst/>
          </a:prstGeom>
          <a:noFill/>
        </p:spPr>
        <p:txBody>
          <a:bodyPr wrap="square" rtlCol="0">
            <a:spAutoFit/>
          </a:bodyPr>
          <a:lstStyle/>
          <a:p>
            <a:pPr algn="ctr"/>
            <a:r>
              <a:rPr lang="en-IN" sz="1600" dirty="0">
                <a:latin typeface="Abadi" panose="020B0604020104020204" pitchFamily="34" charset="0"/>
                <a:ea typeface="ADLaM Display" panose="02010000000000000000" pitchFamily="2" charset="0"/>
                <a:cs typeface="ADLaM Display" panose="02010000000000000000" pitchFamily="2" charset="0"/>
              </a:rPr>
              <a:t>CREATE TABLE Payments (    </a:t>
            </a:r>
            <a:r>
              <a:rPr lang="en-IN" sz="1600" dirty="0" err="1">
                <a:latin typeface="Abadi" panose="020B0604020104020204" pitchFamily="34" charset="0"/>
                <a:ea typeface="ADLaM Display" panose="02010000000000000000" pitchFamily="2" charset="0"/>
                <a:cs typeface="ADLaM Display" panose="02010000000000000000" pitchFamily="2" charset="0"/>
              </a:rPr>
              <a:t>payment_id</a:t>
            </a:r>
            <a:r>
              <a:rPr lang="en-IN" sz="1600" dirty="0">
                <a:latin typeface="Abadi" panose="020B0604020104020204" pitchFamily="34" charset="0"/>
                <a:ea typeface="ADLaM Display" panose="02010000000000000000" pitchFamily="2" charset="0"/>
                <a:cs typeface="ADLaM Display" panose="02010000000000000000" pitchFamily="2" charset="0"/>
              </a:rPr>
              <a:t> INT PRIMARY KEY,    </a:t>
            </a:r>
            <a:r>
              <a:rPr lang="en-IN" sz="1600" dirty="0" err="1">
                <a:latin typeface="Abadi" panose="020B0604020104020204" pitchFamily="34" charset="0"/>
                <a:ea typeface="ADLaM Display" panose="02010000000000000000" pitchFamily="2" charset="0"/>
                <a:cs typeface="ADLaM Display" panose="02010000000000000000" pitchFamily="2" charset="0"/>
              </a:rPr>
              <a:t>member_id</a:t>
            </a:r>
            <a:r>
              <a:rPr lang="en-IN" sz="1600" dirty="0">
                <a:latin typeface="Abadi" panose="020B0604020104020204" pitchFamily="34" charset="0"/>
                <a:ea typeface="ADLaM Display" panose="02010000000000000000" pitchFamily="2" charset="0"/>
                <a:cs typeface="ADLaM Display" panose="02010000000000000000" pitchFamily="2" charset="0"/>
              </a:rPr>
              <a:t> INT,    amount DECIMAL(10, 2),    </a:t>
            </a:r>
            <a:r>
              <a:rPr lang="en-IN" sz="1600" dirty="0" err="1">
                <a:latin typeface="Abadi" panose="020B0604020104020204" pitchFamily="34" charset="0"/>
                <a:ea typeface="ADLaM Display" panose="02010000000000000000" pitchFamily="2" charset="0"/>
                <a:cs typeface="ADLaM Display" panose="02010000000000000000" pitchFamily="2" charset="0"/>
              </a:rPr>
              <a:t>payment_date</a:t>
            </a:r>
            <a:r>
              <a:rPr lang="en-IN" sz="1600" dirty="0">
                <a:latin typeface="Abadi" panose="020B0604020104020204" pitchFamily="34" charset="0"/>
                <a:ea typeface="ADLaM Display" panose="02010000000000000000" pitchFamily="2" charset="0"/>
                <a:cs typeface="ADLaM Display" panose="02010000000000000000" pitchFamily="2" charset="0"/>
              </a:rPr>
              <a:t> DATETIME,    </a:t>
            </a:r>
            <a:r>
              <a:rPr lang="en-IN" sz="1600" dirty="0" err="1">
                <a:latin typeface="Abadi" panose="020B0604020104020204" pitchFamily="34" charset="0"/>
                <a:ea typeface="ADLaM Display" panose="02010000000000000000" pitchFamily="2" charset="0"/>
                <a:cs typeface="ADLaM Display" panose="02010000000000000000" pitchFamily="2" charset="0"/>
              </a:rPr>
              <a:t>payment_method</a:t>
            </a:r>
            <a:r>
              <a:rPr lang="en-IN" sz="1600" dirty="0">
                <a:latin typeface="Abadi" panose="020B0604020104020204" pitchFamily="34" charset="0"/>
                <a:ea typeface="ADLaM Display" panose="02010000000000000000" pitchFamily="2" charset="0"/>
                <a:cs typeface="ADLaM Display" panose="02010000000000000000" pitchFamily="2" charset="0"/>
              </a:rPr>
              <a:t> VARCHAR(20) CHECK (</a:t>
            </a:r>
            <a:r>
              <a:rPr lang="en-IN" sz="1600" dirty="0" err="1">
                <a:latin typeface="Abadi" panose="020B0604020104020204" pitchFamily="34" charset="0"/>
                <a:ea typeface="ADLaM Display" panose="02010000000000000000" pitchFamily="2" charset="0"/>
                <a:cs typeface="ADLaM Display" panose="02010000000000000000" pitchFamily="2" charset="0"/>
              </a:rPr>
              <a:t>payment_method</a:t>
            </a:r>
            <a:r>
              <a:rPr lang="en-IN" sz="1600" dirty="0">
                <a:latin typeface="Abadi" panose="020B0604020104020204" pitchFamily="34" charset="0"/>
                <a:ea typeface="ADLaM Display" panose="02010000000000000000" pitchFamily="2" charset="0"/>
                <a:cs typeface="ADLaM Display" panose="02010000000000000000" pitchFamily="2" charset="0"/>
              </a:rPr>
              <a:t> IN ('Credit Card', 'Cash', 'PayPal', 'Bank Transfer')),    </a:t>
            </a:r>
            <a:r>
              <a:rPr lang="en-IN" sz="1600" dirty="0" err="1">
                <a:latin typeface="Abadi" panose="020B0604020104020204" pitchFamily="34" charset="0"/>
                <a:ea typeface="ADLaM Display" panose="02010000000000000000" pitchFamily="2" charset="0"/>
                <a:cs typeface="ADLaM Display" panose="02010000000000000000" pitchFamily="2" charset="0"/>
              </a:rPr>
              <a:t>event_id</a:t>
            </a:r>
            <a:r>
              <a:rPr lang="en-IN" sz="1600" dirty="0">
                <a:latin typeface="Abadi" panose="020B0604020104020204" pitchFamily="34" charset="0"/>
                <a:ea typeface="ADLaM Display" panose="02010000000000000000" pitchFamily="2" charset="0"/>
                <a:cs typeface="ADLaM Display" panose="02010000000000000000" pitchFamily="2" charset="0"/>
              </a:rPr>
              <a:t> INT,    FOREIGN KEY (</a:t>
            </a:r>
            <a:r>
              <a:rPr lang="en-IN" sz="1600" dirty="0" err="1">
                <a:latin typeface="Abadi" panose="020B0604020104020204" pitchFamily="34" charset="0"/>
                <a:ea typeface="ADLaM Display" panose="02010000000000000000" pitchFamily="2" charset="0"/>
                <a:cs typeface="ADLaM Display" panose="02010000000000000000" pitchFamily="2" charset="0"/>
              </a:rPr>
              <a:t>member_id</a:t>
            </a:r>
            <a:r>
              <a:rPr lang="en-IN" sz="1600" dirty="0">
                <a:latin typeface="Abadi" panose="020B0604020104020204" pitchFamily="34" charset="0"/>
                <a:ea typeface="ADLaM Display" panose="02010000000000000000" pitchFamily="2" charset="0"/>
                <a:cs typeface="ADLaM Display" panose="02010000000000000000" pitchFamily="2" charset="0"/>
              </a:rPr>
              <a:t>) REFERENCES Members(</a:t>
            </a:r>
            <a:r>
              <a:rPr lang="en-IN" sz="1600" dirty="0" err="1">
                <a:latin typeface="Abadi" panose="020B0604020104020204" pitchFamily="34" charset="0"/>
                <a:ea typeface="ADLaM Display" panose="02010000000000000000" pitchFamily="2" charset="0"/>
                <a:cs typeface="ADLaM Display" panose="02010000000000000000" pitchFamily="2" charset="0"/>
              </a:rPr>
              <a:t>member_id</a:t>
            </a:r>
            <a:r>
              <a:rPr lang="en-IN" sz="1600" dirty="0">
                <a:latin typeface="Abadi" panose="020B0604020104020204" pitchFamily="34" charset="0"/>
                <a:ea typeface="ADLaM Display" panose="02010000000000000000" pitchFamily="2" charset="0"/>
                <a:cs typeface="ADLaM Display" panose="02010000000000000000" pitchFamily="2" charset="0"/>
              </a:rPr>
              <a:t>),    FOREIGN KEY (</a:t>
            </a:r>
            <a:r>
              <a:rPr lang="en-IN" sz="1600" dirty="0" err="1">
                <a:latin typeface="Abadi" panose="020B0604020104020204" pitchFamily="34" charset="0"/>
                <a:ea typeface="ADLaM Display" panose="02010000000000000000" pitchFamily="2" charset="0"/>
                <a:cs typeface="ADLaM Display" panose="02010000000000000000" pitchFamily="2" charset="0"/>
              </a:rPr>
              <a:t>event_id</a:t>
            </a:r>
            <a:r>
              <a:rPr lang="en-IN" sz="1600" dirty="0">
                <a:latin typeface="Abadi" panose="020B0604020104020204" pitchFamily="34" charset="0"/>
                <a:ea typeface="ADLaM Display" panose="02010000000000000000" pitchFamily="2" charset="0"/>
                <a:cs typeface="ADLaM Display" panose="02010000000000000000" pitchFamily="2" charset="0"/>
              </a:rPr>
              <a:t>) REFERENCES Events(</a:t>
            </a:r>
            <a:r>
              <a:rPr lang="en-IN" sz="1600" dirty="0" err="1">
                <a:latin typeface="Abadi" panose="020B0604020104020204" pitchFamily="34" charset="0"/>
                <a:ea typeface="ADLaM Display" panose="02010000000000000000" pitchFamily="2" charset="0"/>
                <a:cs typeface="ADLaM Display" panose="02010000000000000000" pitchFamily="2" charset="0"/>
              </a:rPr>
              <a:t>event_id</a:t>
            </a:r>
            <a:r>
              <a:rPr lang="en-IN" sz="1600" dirty="0">
                <a:latin typeface="Abadi" panose="020B0604020104020204" pitchFamily="34" charset="0"/>
                <a:ea typeface="ADLaM Display" panose="02010000000000000000" pitchFamily="2" charset="0"/>
                <a:cs typeface="ADLaM Display" panose="02010000000000000000" pitchFamily="2" charset="0"/>
              </a:rPr>
              <a:t>));INSERT INTO Payments (</a:t>
            </a:r>
            <a:r>
              <a:rPr lang="en-IN" sz="1600" dirty="0" err="1">
                <a:latin typeface="Abadi" panose="020B0604020104020204" pitchFamily="34" charset="0"/>
                <a:ea typeface="ADLaM Display" panose="02010000000000000000" pitchFamily="2" charset="0"/>
                <a:cs typeface="ADLaM Display" panose="02010000000000000000" pitchFamily="2" charset="0"/>
              </a:rPr>
              <a:t>payment_id</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member_id</a:t>
            </a:r>
            <a:r>
              <a:rPr lang="en-IN" sz="1600" dirty="0">
                <a:latin typeface="Abadi" panose="020B0604020104020204" pitchFamily="34" charset="0"/>
                <a:ea typeface="ADLaM Display" panose="02010000000000000000" pitchFamily="2" charset="0"/>
                <a:cs typeface="ADLaM Display" panose="02010000000000000000" pitchFamily="2" charset="0"/>
              </a:rPr>
              <a:t>, amount, </a:t>
            </a:r>
            <a:r>
              <a:rPr lang="en-IN" sz="1600" dirty="0" err="1">
                <a:latin typeface="Abadi" panose="020B0604020104020204" pitchFamily="34" charset="0"/>
                <a:ea typeface="ADLaM Display" panose="02010000000000000000" pitchFamily="2" charset="0"/>
                <a:cs typeface="ADLaM Display" panose="02010000000000000000" pitchFamily="2" charset="0"/>
              </a:rPr>
              <a:t>payment_date</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payment_method</a:t>
            </a:r>
            <a:r>
              <a:rPr lang="en-IN" sz="1600" dirty="0">
                <a:latin typeface="Abadi" panose="020B0604020104020204" pitchFamily="34" charset="0"/>
                <a:ea typeface="ADLaM Display" panose="02010000000000000000" pitchFamily="2" charset="0"/>
                <a:cs typeface="ADLaM Display" panose="02010000000000000000" pitchFamily="2" charset="0"/>
              </a:rPr>
              <a:t>, </a:t>
            </a:r>
            <a:r>
              <a:rPr lang="en-IN" sz="1600" dirty="0" err="1">
                <a:latin typeface="Abadi" panose="020B0604020104020204" pitchFamily="34" charset="0"/>
                <a:ea typeface="ADLaM Display" panose="02010000000000000000" pitchFamily="2" charset="0"/>
                <a:cs typeface="ADLaM Display" panose="02010000000000000000" pitchFamily="2" charset="0"/>
              </a:rPr>
              <a:t>event_id</a:t>
            </a:r>
            <a:r>
              <a:rPr lang="en-IN" sz="1600" dirty="0">
                <a:latin typeface="Abadi" panose="020B0604020104020204" pitchFamily="34" charset="0"/>
                <a:ea typeface="ADLaM Display" panose="02010000000000000000" pitchFamily="2" charset="0"/>
                <a:cs typeface="ADLaM Display" panose="02010000000000000000" pitchFamily="2" charset="0"/>
              </a:rPr>
              <a:t>) VALUES(1, 1, 50.00, '2024-01-10 12:00:00', 'Credit Card', 1),(2, 2, 335.00, '2024-04-05 10:00:00', 'Cash', 2),(3, 3, 75.00, '2024-06-01 14:00:00', 'Cash', 3),(4, 4, 799.00, '2024-02-18 15:30:00', 'Credit Card', 4),(5, 5, 200.00, '2024-03-10 08:45:00', 'Bank Transfer', 5),(6, 6, 200.00, '2024-05-20 19:15:00', 'Credit Card', 6),(7, 7, 15.00, '2024-07-08 17:00:00', 'Cash', 7),(8, 8, 200.00, '2024-08-12 13:00:00', 'Cash', 8),(9, 9, 60.00, '2024-09-10 16:00:00', 'Credit Card', 9),(10, 10, 20.00, '2024-10-20 18:30:00', 'Cash', 10),(11, 11, 290.00, '2024-12-10 12:00:00', 'Bank Transfer', 11),(12, 12, 45.00, '2024-07-15 09:00:00', 'PayPal', 12),(13, 13, 55.00, '2024-11-01 14:30:00', 'Credit Card', 13),(14, 14, 290.00, '2024-02-25 19:00:00', 'Cash', 14),(15, 15, 90.00, '2025-01-01 22:00:00', 'Credit Card', 15);</a:t>
            </a:r>
          </a:p>
        </p:txBody>
      </p:sp>
      <p:sp>
        <p:nvSpPr>
          <p:cNvPr id="79" name="TextBox 78">
            <a:extLst>
              <a:ext uri="{FF2B5EF4-FFF2-40B4-BE49-F238E27FC236}">
                <a16:creationId xmlns:a16="http://schemas.microsoft.com/office/drawing/2014/main" id="{ED37BD9B-B37F-A6F1-ED0F-F0CA42DF941C}"/>
              </a:ext>
            </a:extLst>
          </p:cNvPr>
          <p:cNvSpPr txBox="1"/>
          <p:nvPr/>
        </p:nvSpPr>
        <p:spPr>
          <a:xfrm>
            <a:off x="206781" y="3198578"/>
            <a:ext cx="1200041" cy="481729"/>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Tables</a:t>
            </a:r>
          </a:p>
        </p:txBody>
      </p:sp>
      <p:grpSp>
        <p:nvGrpSpPr>
          <p:cNvPr id="25" name="Group 24">
            <a:extLst>
              <a:ext uri="{FF2B5EF4-FFF2-40B4-BE49-F238E27FC236}">
                <a16:creationId xmlns:a16="http://schemas.microsoft.com/office/drawing/2014/main" id="{DF00C25A-D104-4DC6-C2AA-1D34AF00E60D}"/>
              </a:ext>
            </a:extLst>
          </p:cNvPr>
          <p:cNvGrpSpPr/>
          <p:nvPr/>
        </p:nvGrpSpPr>
        <p:grpSpPr>
          <a:xfrm>
            <a:off x="-2027801" y="1118773"/>
            <a:ext cx="5407559" cy="4901026"/>
            <a:chOff x="-2027801" y="1118773"/>
            <a:chExt cx="5407559" cy="4901026"/>
          </a:xfrm>
        </p:grpSpPr>
        <p:pic>
          <p:nvPicPr>
            <p:cNvPr id="20" name="Picture 19" descr="A reserved sign on a table&#10;&#10;Description automatically generated">
              <a:extLst>
                <a:ext uri="{FF2B5EF4-FFF2-40B4-BE49-F238E27FC236}">
                  <a16:creationId xmlns:a16="http://schemas.microsoft.com/office/drawing/2014/main" id="{880616BA-81F8-4F32-7499-1208084C9592}"/>
                </a:ext>
              </a:extLst>
            </p:cNvPr>
            <p:cNvPicPr>
              <a:picLocks noChangeAspect="1"/>
            </p:cNvPicPr>
            <p:nvPr/>
          </p:nvPicPr>
          <p:blipFill>
            <a:blip r:embed="rId2" cstate="hqprint">
              <a:extLst>
                <a:ext uri="{28A0092B-C50C-407E-A947-70E740481C1C}">
                  <a14:useLocalDpi xmlns:a14="http://schemas.microsoft.com/office/drawing/2010/main" val="0"/>
                </a:ext>
              </a:extLst>
            </a:blip>
            <a:srcRect l="20310" t="13703"/>
            <a:stretch>
              <a:fillRect/>
            </a:stretch>
          </p:blipFill>
          <p:spPr>
            <a:xfrm>
              <a:off x="-2026606" y="1467115"/>
              <a:ext cx="2422636" cy="2213192"/>
            </a:xfrm>
            <a:custGeom>
              <a:avLst/>
              <a:gdLst>
                <a:gd name="connsiteX0" fmla="*/ 2089424 w 2089424"/>
                <a:gd name="connsiteY0" fmla="*/ 0 h 2074678"/>
                <a:gd name="connsiteX1" fmla="*/ 2089424 w 2089424"/>
                <a:gd name="connsiteY1" fmla="*/ 453333 h 2074678"/>
                <a:gd name="connsiteX2" fmla="*/ 2037039 w 2089424"/>
                <a:gd name="connsiteY2" fmla="*/ 455968 h 2074678"/>
                <a:gd name="connsiteX3" fmla="*/ 489918 w 2089424"/>
                <a:gd name="connsiteY3" fmla="*/ 1997195 h 2074678"/>
                <a:gd name="connsiteX4" fmla="*/ 485990 w 2089424"/>
                <a:gd name="connsiteY4" fmla="*/ 2074678 h 2074678"/>
                <a:gd name="connsiteX5" fmla="*/ 0 w 2089424"/>
                <a:gd name="connsiteY5" fmla="*/ 2074678 h 2074678"/>
                <a:gd name="connsiteX6" fmla="*/ 6365 w 2089424"/>
                <a:gd name="connsiteY6" fmla="*/ 1950853 h 2074678"/>
                <a:gd name="connsiteX7" fmla="*/ 1987342 w 2089424"/>
                <a:gd name="connsiteY7" fmla="*/ 5063 h 2074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9424" h="2074678">
                  <a:moveTo>
                    <a:pt x="2089424" y="0"/>
                  </a:moveTo>
                  <a:lnTo>
                    <a:pt x="2089424" y="453333"/>
                  </a:lnTo>
                  <a:lnTo>
                    <a:pt x="2037039" y="455968"/>
                  </a:lnTo>
                  <a:cubicBezTo>
                    <a:pt x="1221286" y="538497"/>
                    <a:pt x="572762" y="1184550"/>
                    <a:pt x="489918" y="1997195"/>
                  </a:cubicBezTo>
                  <a:lnTo>
                    <a:pt x="485990" y="2074678"/>
                  </a:lnTo>
                  <a:lnTo>
                    <a:pt x="0" y="2074678"/>
                  </a:lnTo>
                  <a:lnTo>
                    <a:pt x="6365" y="1950853"/>
                  </a:lnTo>
                  <a:cubicBezTo>
                    <a:pt x="112441" y="924893"/>
                    <a:pt x="942829" y="109255"/>
                    <a:pt x="1987342" y="5063"/>
                  </a:cubicBezTo>
                  <a:close/>
                </a:path>
              </a:pathLst>
            </a:custGeom>
          </p:spPr>
        </p:pic>
        <p:pic>
          <p:nvPicPr>
            <p:cNvPr id="21" name="Picture 20" descr="A crowd of people at a concert&#10;&#10;Description automatically generated">
              <a:extLst>
                <a:ext uri="{FF2B5EF4-FFF2-40B4-BE49-F238E27FC236}">
                  <a16:creationId xmlns:a16="http://schemas.microsoft.com/office/drawing/2014/main" id="{AB9A8219-5D7E-EB52-ED0A-00515567AAA3}"/>
                </a:ext>
              </a:extLst>
            </p:cNvPr>
            <p:cNvPicPr>
              <a:picLocks noChangeAspect="1"/>
            </p:cNvPicPr>
            <p:nvPr/>
          </p:nvPicPr>
          <p:blipFill>
            <a:blip r:embed="rId3" cstate="hqprint">
              <a:extLst>
                <a:ext uri="{28A0092B-C50C-407E-A947-70E740481C1C}">
                  <a14:useLocalDpi xmlns:a14="http://schemas.microsoft.com/office/drawing/2010/main" val="0"/>
                </a:ext>
              </a:extLst>
            </a:blip>
            <a:srcRect r="29639" b="4166"/>
            <a:stretch>
              <a:fillRect/>
            </a:stretch>
          </p:blipFill>
          <p:spPr>
            <a:xfrm>
              <a:off x="773435" y="3970191"/>
              <a:ext cx="2401133" cy="2044739"/>
            </a:xfrm>
            <a:custGeom>
              <a:avLst/>
              <a:gdLst>
                <a:gd name="connsiteX0" fmla="*/ 1584877 w 2070878"/>
                <a:gd name="connsiteY0" fmla="*/ 0 h 1916767"/>
                <a:gd name="connsiteX1" fmla="*/ 2070878 w 2070878"/>
                <a:gd name="connsiteY1" fmla="*/ 0 h 1916767"/>
                <a:gd name="connsiteX2" fmla="*/ 2063721 w 2070878"/>
                <a:gd name="connsiteY2" fmla="*/ 127729 h 1916767"/>
                <a:gd name="connsiteX3" fmla="*/ 82744 w 2070878"/>
                <a:gd name="connsiteY3" fmla="*/ 1913002 h 1916767"/>
                <a:gd name="connsiteX4" fmla="*/ 0 w 2070878"/>
                <a:gd name="connsiteY4" fmla="*/ 1916767 h 1916767"/>
                <a:gd name="connsiteX5" fmla="*/ 0 w 2070878"/>
                <a:gd name="connsiteY5" fmla="*/ 1500819 h 1916767"/>
                <a:gd name="connsiteX6" fmla="*/ 33047 w 2070878"/>
                <a:gd name="connsiteY6" fmla="*/ 1499293 h 1916767"/>
                <a:gd name="connsiteX7" fmla="*/ 1580169 w 2070878"/>
                <a:gd name="connsiteY7" fmla="*/ 85210 h 191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0878" h="1916767">
                  <a:moveTo>
                    <a:pt x="1584877" y="0"/>
                  </a:moveTo>
                  <a:lnTo>
                    <a:pt x="2070878" y="0"/>
                  </a:lnTo>
                  <a:lnTo>
                    <a:pt x="2063721" y="127729"/>
                  </a:lnTo>
                  <a:cubicBezTo>
                    <a:pt x="1957645" y="1069053"/>
                    <a:pt x="1127257" y="1817405"/>
                    <a:pt x="82744" y="1913002"/>
                  </a:cubicBezTo>
                  <a:lnTo>
                    <a:pt x="0" y="1916767"/>
                  </a:lnTo>
                  <a:lnTo>
                    <a:pt x="0" y="1500819"/>
                  </a:lnTo>
                  <a:lnTo>
                    <a:pt x="33047" y="1499293"/>
                  </a:lnTo>
                  <a:cubicBezTo>
                    <a:pt x="848801" y="1423573"/>
                    <a:pt x="1497325" y="830816"/>
                    <a:pt x="1580169" y="85210"/>
                  </a:cubicBezTo>
                  <a:close/>
                </a:path>
              </a:pathLst>
            </a:custGeom>
          </p:spPr>
        </p:pic>
        <p:pic>
          <p:nvPicPr>
            <p:cNvPr id="22" name="Picture 21" descr="A person holding money on a table&#10;&#10;Description automatically generated">
              <a:extLst>
                <a:ext uri="{FF2B5EF4-FFF2-40B4-BE49-F238E27FC236}">
                  <a16:creationId xmlns:a16="http://schemas.microsoft.com/office/drawing/2014/main" id="{C2DA81E1-0D75-42F3-E110-86395711D4C4}"/>
                </a:ext>
              </a:extLst>
            </p:cNvPr>
            <p:cNvPicPr>
              <a:picLocks noChangeAspect="1"/>
            </p:cNvPicPr>
            <p:nvPr/>
          </p:nvPicPr>
          <p:blipFill>
            <a:blip r:embed="rId4" cstate="hqprint">
              <a:extLst>
                <a:ext uri="{28A0092B-C50C-407E-A947-70E740481C1C}">
                  <a14:useLocalDpi xmlns:a14="http://schemas.microsoft.com/office/drawing/2010/main" val="0"/>
                </a:ext>
              </a:extLst>
            </a:blip>
            <a:srcRect l="-4141" t="3748" r="21983" b="-3390"/>
            <a:stretch/>
          </p:blipFill>
          <p:spPr>
            <a:xfrm>
              <a:off x="984356" y="1118773"/>
              <a:ext cx="2395402" cy="2126004"/>
            </a:xfrm>
            <a:custGeom>
              <a:avLst/>
              <a:gdLst>
                <a:gd name="connsiteX0" fmla="*/ 0 w 2065935"/>
                <a:gd name="connsiteY0" fmla="*/ 0 h 1992947"/>
                <a:gd name="connsiteX1" fmla="*/ 82745 w 2065935"/>
                <a:gd name="connsiteY1" fmla="*/ 4104 h 1992947"/>
                <a:gd name="connsiteX2" fmla="*/ 2063722 w 2065935"/>
                <a:gd name="connsiteY2" fmla="*/ 1949894 h 1992947"/>
                <a:gd name="connsiteX3" fmla="*/ 2065935 w 2065935"/>
                <a:gd name="connsiteY3" fmla="*/ 1992947 h 1992947"/>
                <a:gd name="connsiteX4" fmla="*/ 1579667 w 2065935"/>
                <a:gd name="connsiteY4" fmla="*/ 1992947 h 1992947"/>
                <a:gd name="connsiteX5" fmla="*/ 1553905 w 2065935"/>
                <a:gd name="connsiteY5" fmla="*/ 1824792 h 1992947"/>
                <a:gd name="connsiteX6" fmla="*/ 33048 w 2065935"/>
                <a:gd name="connsiteY6" fmla="*/ 455009 h 1992947"/>
                <a:gd name="connsiteX7" fmla="*/ 0 w 2065935"/>
                <a:gd name="connsiteY7" fmla="*/ 453347 h 199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935" h="1992947">
                  <a:moveTo>
                    <a:pt x="0" y="0"/>
                  </a:moveTo>
                  <a:lnTo>
                    <a:pt x="82745" y="4104"/>
                  </a:lnTo>
                  <a:cubicBezTo>
                    <a:pt x="1127258" y="108296"/>
                    <a:pt x="1957646" y="923934"/>
                    <a:pt x="2063722" y="1949894"/>
                  </a:cubicBezTo>
                  <a:lnTo>
                    <a:pt x="2065935" y="1992947"/>
                  </a:lnTo>
                  <a:lnTo>
                    <a:pt x="1579667" y="1992947"/>
                  </a:lnTo>
                  <a:lnTo>
                    <a:pt x="1553905" y="1824792"/>
                  </a:lnTo>
                  <a:cubicBezTo>
                    <a:pt x="1403827" y="1094173"/>
                    <a:pt x="790534" y="531643"/>
                    <a:pt x="33048" y="455009"/>
                  </a:cubicBezTo>
                  <a:lnTo>
                    <a:pt x="0" y="453347"/>
                  </a:lnTo>
                  <a:close/>
                </a:path>
              </a:pathLst>
            </a:custGeom>
          </p:spPr>
        </p:pic>
        <p:pic>
          <p:nvPicPr>
            <p:cNvPr id="23" name="Picture 22" descr="A large crowd of people at a concert&#10;&#10;Description automatically generated">
              <a:extLst>
                <a:ext uri="{FF2B5EF4-FFF2-40B4-BE49-F238E27FC236}">
                  <a16:creationId xmlns:a16="http://schemas.microsoft.com/office/drawing/2014/main" id="{C9979502-ED08-D698-D9BC-2428B0F82E67}"/>
                </a:ext>
              </a:extLst>
            </p:cNvPr>
            <p:cNvPicPr>
              <a:picLocks noChangeAspect="1"/>
            </p:cNvPicPr>
            <p:nvPr/>
          </p:nvPicPr>
          <p:blipFill>
            <a:blip r:embed="rId5" cstate="hqprint">
              <a:extLst>
                <a:ext uri="{28A0092B-C50C-407E-A947-70E740481C1C}">
                  <a14:useLocalDpi xmlns:a14="http://schemas.microsoft.com/office/drawing/2010/main" val="0"/>
                </a:ext>
              </a:extLst>
            </a:blip>
            <a:srcRect l="18696" t="3213" r="1609" b="11437"/>
            <a:stretch/>
          </p:blipFill>
          <p:spPr>
            <a:xfrm>
              <a:off x="-2027801" y="3965627"/>
              <a:ext cx="2517741" cy="2054172"/>
            </a:xfrm>
            <a:custGeom>
              <a:avLst/>
              <a:gdLst>
                <a:gd name="connsiteX0" fmla="*/ 0 w 2171448"/>
                <a:gd name="connsiteY0" fmla="*/ 0 h 1925610"/>
                <a:gd name="connsiteX1" fmla="*/ 486005 w 2171448"/>
                <a:gd name="connsiteY1" fmla="*/ 0 h 1925610"/>
                <a:gd name="connsiteX2" fmla="*/ 490949 w 2171448"/>
                <a:gd name="connsiteY2" fmla="*/ 89487 h 1925610"/>
                <a:gd name="connsiteX3" fmla="*/ 2038070 w 2171448"/>
                <a:gd name="connsiteY3" fmla="*/ 1503570 h 1925610"/>
                <a:gd name="connsiteX4" fmla="*/ 2171448 w 2171448"/>
                <a:gd name="connsiteY4" fmla="*/ 1509726 h 1925610"/>
                <a:gd name="connsiteX5" fmla="*/ 2171448 w 2171448"/>
                <a:gd name="connsiteY5" fmla="*/ 1925610 h 1925610"/>
                <a:gd name="connsiteX6" fmla="*/ 1988373 w 2171448"/>
                <a:gd name="connsiteY6" fmla="*/ 1917279 h 1925610"/>
                <a:gd name="connsiteX7" fmla="*/ 7396 w 2171448"/>
                <a:gd name="connsiteY7" fmla="*/ 132006 h 19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1448" h="1925610">
                  <a:moveTo>
                    <a:pt x="0" y="0"/>
                  </a:moveTo>
                  <a:lnTo>
                    <a:pt x="486005" y="0"/>
                  </a:lnTo>
                  <a:lnTo>
                    <a:pt x="490949" y="89487"/>
                  </a:lnTo>
                  <a:cubicBezTo>
                    <a:pt x="573793" y="835093"/>
                    <a:pt x="1222317" y="1427850"/>
                    <a:pt x="2038070" y="1503570"/>
                  </a:cubicBezTo>
                  <a:lnTo>
                    <a:pt x="2171448" y="1509726"/>
                  </a:lnTo>
                  <a:lnTo>
                    <a:pt x="2171448" y="1925610"/>
                  </a:lnTo>
                  <a:lnTo>
                    <a:pt x="1988373" y="1917279"/>
                  </a:lnTo>
                  <a:cubicBezTo>
                    <a:pt x="943860" y="1821682"/>
                    <a:pt x="113472" y="1073330"/>
                    <a:pt x="7396" y="132006"/>
                  </a:cubicBezTo>
                  <a:close/>
                </a:path>
              </a:pathLst>
            </a:custGeom>
          </p:spPr>
        </p:pic>
      </p:grpSp>
    </p:spTree>
    <p:extLst>
      <p:ext uri="{BB962C8B-B14F-4D97-AF65-F5344CB8AC3E}">
        <p14:creationId xmlns:p14="http://schemas.microsoft.com/office/powerpoint/2010/main" val="42835015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EB59E4-9452-93BF-A3D2-12118B130F50}"/>
              </a:ext>
            </a:extLst>
          </p:cNvPr>
          <p:cNvSpPr txBox="1"/>
          <p:nvPr/>
        </p:nvSpPr>
        <p:spPr>
          <a:xfrm>
            <a:off x="2182055" y="453137"/>
            <a:ext cx="2815194" cy="584775"/>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Reservations </a:t>
            </a:r>
          </a:p>
        </p:txBody>
      </p:sp>
      <p:sp>
        <p:nvSpPr>
          <p:cNvPr id="5" name="TextBox 4">
            <a:extLst>
              <a:ext uri="{FF2B5EF4-FFF2-40B4-BE49-F238E27FC236}">
                <a16:creationId xmlns:a16="http://schemas.microsoft.com/office/drawing/2014/main" id="{7CF1E25F-F2E6-C3B9-B02D-8ABFADF5BA92}"/>
              </a:ext>
            </a:extLst>
          </p:cNvPr>
          <p:cNvSpPr txBox="1"/>
          <p:nvPr/>
        </p:nvSpPr>
        <p:spPr>
          <a:xfrm>
            <a:off x="3379758" y="1118773"/>
            <a:ext cx="7722492" cy="3046988"/>
          </a:xfrm>
          <a:prstGeom prst="rect">
            <a:avLst/>
          </a:prstGeom>
          <a:noFill/>
        </p:spPr>
        <p:txBody>
          <a:bodyPr wrap="square" rtlCol="0">
            <a:spAutoFit/>
          </a:bodyPr>
          <a:lstStyle/>
          <a:p>
            <a:pPr algn="ctr"/>
            <a:r>
              <a:rPr lang="en-US" sz="1600" dirty="0">
                <a:latin typeface="Abadi" panose="020B0604020104020204" pitchFamily="34" charset="0"/>
                <a:ea typeface="ADLaM Display" panose="02010000000000000000" pitchFamily="2" charset="0"/>
                <a:cs typeface="ADLaM Display" panose="02010000000000000000" pitchFamily="2" charset="0"/>
              </a:rPr>
              <a:t>CREATE TABLE Reservations (    </a:t>
            </a:r>
            <a:r>
              <a:rPr lang="en-US" sz="1600" dirty="0" err="1">
                <a:latin typeface="Abadi" panose="020B0604020104020204" pitchFamily="34" charset="0"/>
                <a:ea typeface="ADLaM Display" panose="02010000000000000000" pitchFamily="2" charset="0"/>
                <a:cs typeface="ADLaM Display" panose="02010000000000000000" pitchFamily="2" charset="0"/>
              </a:rPr>
              <a:t>reservation_id</a:t>
            </a:r>
            <a:r>
              <a:rPr lang="en-US" sz="1600" dirty="0">
                <a:latin typeface="Abadi" panose="020B0604020104020204" pitchFamily="34" charset="0"/>
                <a:ea typeface="ADLaM Display" panose="02010000000000000000" pitchFamily="2" charset="0"/>
                <a:cs typeface="ADLaM Display" panose="02010000000000000000" pitchFamily="2" charset="0"/>
              </a:rPr>
              <a:t> INT PRIMARY KEY,    </a:t>
            </a:r>
            <a:r>
              <a:rPr lang="en-US" sz="1600" dirty="0" err="1">
                <a:latin typeface="Abadi" panose="020B0604020104020204" pitchFamily="34" charset="0"/>
                <a:ea typeface="ADLaM Display" panose="02010000000000000000" pitchFamily="2" charset="0"/>
                <a:cs typeface="ADLaM Display" panose="02010000000000000000" pitchFamily="2" charset="0"/>
              </a:rPr>
              <a:t>member_id</a:t>
            </a:r>
            <a:r>
              <a:rPr lang="en-US" sz="1600" dirty="0">
                <a:latin typeface="Abadi" panose="020B0604020104020204" pitchFamily="34" charset="0"/>
                <a:ea typeface="ADLaM Display" panose="02010000000000000000" pitchFamily="2" charset="0"/>
                <a:cs typeface="ADLaM Display" panose="02010000000000000000" pitchFamily="2" charset="0"/>
              </a:rPr>
              <a:t> INT,    </a:t>
            </a:r>
            <a:r>
              <a:rPr lang="en-US" sz="1600" dirty="0" err="1">
                <a:latin typeface="Abadi" panose="020B0604020104020204" pitchFamily="34" charset="0"/>
                <a:ea typeface="ADLaM Display" panose="02010000000000000000" pitchFamily="2" charset="0"/>
                <a:cs typeface="ADLaM Display" panose="02010000000000000000" pitchFamily="2" charset="0"/>
              </a:rPr>
              <a:t>event_id</a:t>
            </a:r>
            <a:r>
              <a:rPr lang="en-US" sz="1600" dirty="0">
                <a:latin typeface="Abadi" panose="020B0604020104020204" pitchFamily="34" charset="0"/>
                <a:ea typeface="ADLaM Display" panose="02010000000000000000" pitchFamily="2" charset="0"/>
                <a:cs typeface="ADLaM Display" panose="02010000000000000000" pitchFamily="2" charset="0"/>
              </a:rPr>
              <a:t> INT,    </a:t>
            </a:r>
            <a:r>
              <a:rPr lang="en-US" sz="1600" dirty="0" err="1">
                <a:latin typeface="Abadi" panose="020B0604020104020204" pitchFamily="34" charset="0"/>
                <a:ea typeface="ADLaM Display" panose="02010000000000000000" pitchFamily="2" charset="0"/>
                <a:cs typeface="ADLaM Display" panose="02010000000000000000" pitchFamily="2" charset="0"/>
              </a:rPr>
              <a:t>reservation_date</a:t>
            </a:r>
            <a:r>
              <a:rPr lang="en-US" sz="1600" dirty="0">
                <a:latin typeface="Abadi" panose="020B0604020104020204" pitchFamily="34" charset="0"/>
                <a:ea typeface="ADLaM Display" panose="02010000000000000000" pitchFamily="2" charset="0"/>
                <a:cs typeface="ADLaM Display" panose="02010000000000000000" pitchFamily="2" charset="0"/>
              </a:rPr>
              <a:t> DATETIME,    </a:t>
            </a:r>
            <a:r>
              <a:rPr lang="en-US" sz="1600" dirty="0" err="1">
                <a:latin typeface="Abadi" panose="020B0604020104020204" pitchFamily="34" charset="0"/>
                <a:ea typeface="ADLaM Display" panose="02010000000000000000" pitchFamily="2" charset="0"/>
                <a:cs typeface="ADLaM Display" panose="02010000000000000000" pitchFamily="2" charset="0"/>
              </a:rPr>
              <a:t>number_of_tickets</a:t>
            </a:r>
            <a:r>
              <a:rPr lang="en-US" sz="1600" dirty="0">
                <a:latin typeface="Abadi" panose="020B0604020104020204" pitchFamily="34" charset="0"/>
                <a:ea typeface="ADLaM Display" panose="02010000000000000000" pitchFamily="2" charset="0"/>
                <a:cs typeface="ADLaM Display" panose="02010000000000000000" pitchFamily="2" charset="0"/>
              </a:rPr>
              <a:t> INT,    FOREIGN KEY (</a:t>
            </a:r>
            <a:r>
              <a:rPr lang="en-US" sz="1600" dirty="0" err="1">
                <a:latin typeface="Abadi" panose="020B0604020104020204" pitchFamily="34" charset="0"/>
                <a:ea typeface="ADLaM Display" panose="02010000000000000000" pitchFamily="2" charset="0"/>
                <a:cs typeface="ADLaM Display" panose="02010000000000000000" pitchFamily="2" charset="0"/>
              </a:rPr>
              <a:t>member_id</a:t>
            </a:r>
            <a:r>
              <a:rPr lang="en-US" sz="1600" dirty="0">
                <a:latin typeface="Abadi" panose="020B0604020104020204" pitchFamily="34" charset="0"/>
                <a:ea typeface="ADLaM Display" panose="02010000000000000000" pitchFamily="2" charset="0"/>
                <a:cs typeface="ADLaM Display" panose="02010000000000000000" pitchFamily="2" charset="0"/>
              </a:rPr>
              <a:t>) REFERENCES Members(</a:t>
            </a:r>
            <a:r>
              <a:rPr lang="en-US" sz="1600" dirty="0" err="1">
                <a:latin typeface="Abadi" panose="020B0604020104020204" pitchFamily="34" charset="0"/>
                <a:ea typeface="ADLaM Display" panose="02010000000000000000" pitchFamily="2" charset="0"/>
                <a:cs typeface="ADLaM Display" panose="02010000000000000000" pitchFamily="2" charset="0"/>
              </a:rPr>
              <a:t>member_id</a:t>
            </a:r>
            <a:r>
              <a:rPr lang="en-US" sz="1600" dirty="0">
                <a:latin typeface="Abadi" panose="020B0604020104020204" pitchFamily="34" charset="0"/>
                <a:ea typeface="ADLaM Display" panose="02010000000000000000" pitchFamily="2" charset="0"/>
                <a:cs typeface="ADLaM Display" panose="02010000000000000000" pitchFamily="2" charset="0"/>
              </a:rPr>
              <a:t>),    FOREIGN KEY (</a:t>
            </a:r>
            <a:r>
              <a:rPr lang="en-US" sz="1600" dirty="0" err="1">
                <a:latin typeface="Abadi" panose="020B0604020104020204" pitchFamily="34" charset="0"/>
                <a:ea typeface="ADLaM Display" panose="02010000000000000000" pitchFamily="2" charset="0"/>
                <a:cs typeface="ADLaM Display" panose="02010000000000000000" pitchFamily="2" charset="0"/>
              </a:rPr>
              <a:t>event_id</a:t>
            </a:r>
            <a:r>
              <a:rPr lang="en-US" sz="1600" dirty="0">
                <a:latin typeface="Abadi" panose="020B0604020104020204" pitchFamily="34" charset="0"/>
                <a:ea typeface="ADLaM Display" panose="02010000000000000000" pitchFamily="2" charset="0"/>
                <a:cs typeface="ADLaM Display" panose="02010000000000000000" pitchFamily="2" charset="0"/>
              </a:rPr>
              <a:t>) REFERENCES Events(</a:t>
            </a:r>
            <a:r>
              <a:rPr lang="en-US" sz="1600" dirty="0" err="1">
                <a:latin typeface="Abadi" panose="020B0604020104020204" pitchFamily="34" charset="0"/>
                <a:ea typeface="ADLaM Display" panose="02010000000000000000" pitchFamily="2" charset="0"/>
                <a:cs typeface="ADLaM Display" panose="02010000000000000000" pitchFamily="2" charset="0"/>
              </a:rPr>
              <a:t>event_id</a:t>
            </a:r>
            <a:r>
              <a:rPr lang="en-US" sz="1600" dirty="0">
                <a:latin typeface="Abadi" panose="020B0604020104020204" pitchFamily="34" charset="0"/>
                <a:ea typeface="ADLaM Display" panose="02010000000000000000" pitchFamily="2" charset="0"/>
                <a:cs typeface="ADLaM Display" panose="02010000000000000000" pitchFamily="2" charset="0"/>
              </a:rPr>
              <a:t>));INSERT INTO Reservations (</a:t>
            </a:r>
            <a:r>
              <a:rPr lang="en-US" sz="1600" dirty="0" err="1">
                <a:latin typeface="Abadi" panose="020B0604020104020204" pitchFamily="34" charset="0"/>
                <a:ea typeface="ADLaM Display" panose="02010000000000000000" pitchFamily="2" charset="0"/>
                <a:cs typeface="ADLaM Display" panose="02010000000000000000" pitchFamily="2" charset="0"/>
              </a:rPr>
              <a:t>reservation_id</a:t>
            </a:r>
            <a:r>
              <a:rPr lang="en-US" sz="1600" dirty="0">
                <a:latin typeface="Abadi" panose="020B0604020104020204" pitchFamily="34" charset="0"/>
                <a:ea typeface="ADLaM Display" panose="02010000000000000000" pitchFamily="2" charset="0"/>
                <a:cs typeface="ADLaM Display" panose="02010000000000000000" pitchFamily="2" charset="0"/>
              </a:rPr>
              <a:t>, </a:t>
            </a:r>
            <a:r>
              <a:rPr lang="en-US" sz="1600" dirty="0" err="1">
                <a:latin typeface="Abadi" panose="020B0604020104020204" pitchFamily="34" charset="0"/>
                <a:ea typeface="ADLaM Display" panose="02010000000000000000" pitchFamily="2" charset="0"/>
                <a:cs typeface="ADLaM Display" panose="02010000000000000000" pitchFamily="2" charset="0"/>
              </a:rPr>
              <a:t>member_id</a:t>
            </a:r>
            <a:r>
              <a:rPr lang="en-US" sz="1600" dirty="0">
                <a:latin typeface="Abadi" panose="020B0604020104020204" pitchFamily="34" charset="0"/>
                <a:ea typeface="ADLaM Display" panose="02010000000000000000" pitchFamily="2" charset="0"/>
                <a:cs typeface="ADLaM Display" panose="02010000000000000000" pitchFamily="2" charset="0"/>
              </a:rPr>
              <a:t>, </a:t>
            </a:r>
            <a:r>
              <a:rPr lang="en-US" sz="1600" dirty="0" err="1">
                <a:latin typeface="Abadi" panose="020B0604020104020204" pitchFamily="34" charset="0"/>
                <a:ea typeface="ADLaM Display" panose="02010000000000000000" pitchFamily="2" charset="0"/>
                <a:cs typeface="ADLaM Display" panose="02010000000000000000" pitchFamily="2" charset="0"/>
              </a:rPr>
              <a:t>event_id</a:t>
            </a:r>
            <a:r>
              <a:rPr lang="en-US" sz="1600" dirty="0">
                <a:latin typeface="Abadi" panose="020B0604020104020204" pitchFamily="34" charset="0"/>
                <a:ea typeface="ADLaM Display" panose="02010000000000000000" pitchFamily="2" charset="0"/>
                <a:cs typeface="ADLaM Display" panose="02010000000000000000" pitchFamily="2" charset="0"/>
              </a:rPr>
              <a:t>, </a:t>
            </a:r>
            <a:r>
              <a:rPr lang="en-US" sz="1600" dirty="0" err="1">
                <a:latin typeface="Abadi" panose="020B0604020104020204" pitchFamily="34" charset="0"/>
                <a:ea typeface="ADLaM Display" panose="02010000000000000000" pitchFamily="2" charset="0"/>
                <a:cs typeface="ADLaM Display" panose="02010000000000000000" pitchFamily="2" charset="0"/>
              </a:rPr>
              <a:t>reservation_date</a:t>
            </a:r>
            <a:r>
              <a:rPr lang="en-US" sz="1600" dirty="0">
                <a:latin typeface="Abadi" panose="020B0604020104020204" pitchFamily="34" charset="0"/>
                <a:ea typeface="ADLaM Display" panose="02010000000000000000" pitchFamily="2" charset="0"/>
                <a:cs typeface="ADLaM Display" panose="02010000000000000000" pitchFamily="2" charset="0"/>
              </a:rPr>
              <a:t>, </a:t>
            </a:r>
            <a:r>
              <a:rPr lang="en-US" sz="1600" dirty="0" err="1">
                <a:latin typeface="Abadi" panose="020B0604020104020204" pitchFamily="34" charset="0"/>
                <a:ea typeface="ADLaM Display" panose="02010000000000000000" pitchFamily="2" charset="0"/>
                <a:cs typeface="ADLaM Display" panose="02010000000000000000" pitchFamily="2" charset="0"/>
              </a:rPr>
              <a:t>number_of_tickets</a:t>
            </a:r>
            <a:r>
              <a:rPr lang="en-US" sz="1600" dirty="0">
                <a:latin typeface="Abadi" panose="020B0604020104020204" pitchFamily="34" charset="0"/>
                <a:ea typeface="ADLaM Display" panose="02010000000000000000" pitchFamily="2" charset="0"/>
                <a:cs typeface="ADLaM Display" panose="02010000000000000000" pitchFamily="2" charset="0"/>
              </a:rPr>
              <a:t>) VALUES(1, 1, 1, '2024-01-10 10:00:00', 2),(2, 2, 2, '2024-04-05 11:00:00', 4),(3, 3, 3, '2024-06-01 13:00:00', 1),(4, 4, 4, '2024-02-18 14:30:00', 3),(5, 5, 5, '2024-03-10 09:00:00', 5),(6, 6, 6, '2024-05-20 16:15:00', 2),(7, 7, 7, '2024-07-08 19:00:00', 4),(8, 8, 8, '2024-08-12 12:30:00', 2),(9, 9, 9, '2024-09-10 10:00:00', 1),(10, 10, 10, '2024-10-20 18:00:00', 3),(11, 11, 11, '2024-12-10 16:00:00', 4),(12, 12, 12, '2024-07-15 14:00:00', 6),(13, 13, 13, '2024-11-01 15:00:00', 2),(14, 14, 14, '2024-02-25 17:00:00', 5),(15, 15, 15, '2025-01-01 21:00:00', 3);</a:t>
            </a:r>
            <a:endParaRPr lang="en-IN" sz="1600" dirty="0">
              <a:latin typeface="Abadi" panose="020B0604020104020204" pitchFamily="34" charset="0"/>
              <a:ea typeface="ADLaM Display" panose="02010000000000000000" pitchFamily="2" charset="0"/>
              <a:cs typeface="ADLaM Display" panose="02010000000000000000" pitchFamily="2" charset="0"/>
            </a:endParaRPr>
          </a:p>
        </p:txBody>
      </p:sp>
      <p:sp>
        <p:nvSpPr>
          <p:cNvPr id="79" name="TextBox 78">
            <a:extLst>
              <a:ext uri="{FF2B5EF4-FFF2-40B4-BE49-F238E27FC236}">
                <a16:creationId xmlns:a16="http://schemas.microsoft.com/office/drawing/2014/main" id="{ED37BD9B-B37F-A6F1-ED0F-F0CA42DF941C}"/>
              </a:ext>
            </a:extLst>
          </p:cNvPr>
          <p:cNvSpPr txBox="1"/>
          <p:nvPr/>
        </p:nvSpPr>
        <p:spPr>
          <a:xfrm>
            <a:off x="206781" y="3198578"/>
            <a:ext cx="1200041" cy="481729"/>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Tables</a:t>
            </a:r>
          </a:p>
        </p:txBody>
      </p:sp>
      <p:grpSp>
        <p:nvGrpSpPr>
          <p:cNvPr id="8" name="Group 7">
            <a:extLst>
              <a:ext uri="{FF2B5EF4-FFF2-40B4-BE49-F238E27FC236}">
                <a16:creationId xmlns:a16="http://schemas.microsoft.com/office/drawing/2014/main" id="{8B64B451-3D3E-3DE1-721D-4EDCE0BFACE3}"/>
              </a:ext>
            </a:extLst>
          </p:cNvPr>
          <p:cNvGrpSpPr/>
          <p:nvPr/>
        </p:nvGrpSpPr>
        <p:grpSpPr>
          <a:xfrm rot="6080787">
            <a:off x="-2236113" y="1234979"/>
            <a:ext cx="5598431" cy="4697865"/>
            <a:chOff x="-2482955" y="883957"/>
            <a:chExt cx="6578729" cy="5580453"/>
          </a:xfrm>
        </p:grpSpPr>
        <p:pic>
          <p:nvPicPr>
            <p:cNvPr id="2" name="Picture 1" descr="A reserved sign on a table&#10;&#10;Description automatically generated">
              <a:extLst>
                <a:ext uri="{FF2B5EF4-FFF2-40B4-BE49-F238E27FC236}">
                  <a16:creationId xmlns:a16="http://schemas.microsoft.com/office/drawing/2014/main" id="{E70DB816-C6FA-7D57-1B49-36ECD272260B}"/>
                </a:ext>
              </a:extLst>
            </p:cNvPr>
            <p:cNvPicPr>
              <a:picLocks noChangeAspect="1"/>
            </p:cNvPicPr>
            <p:nvPr/>
          </p:nvPicPr>
          <p:blipFill>
            <a:blip r:embed="rId2" cstate="hqprint">
              <a:extLst>
                <a:ext uri="{28A0092B-C50C-407E-A947-70E740481C1C}">
                  <a14:useLocalDpi xmlns:a14="http://schemas.microsoft.com/office/drawing/2010/main" val="0"/>
                </a:ext>
              </a:extLst>
            </a:blip>
            <a:srcRect l="20310" t="13703"/>
            <a:stretch>
              <a:fillRect/>
            </a:stretch>
          </p:blipFill>
          <p:spPr>
            <a:xfrm>
              <a:off x="-2482955" y="883957"/>
              <a:ext cx="2932585" cy="2686611"/>
            </a:xfrm>
            <a:custGeom>
              <a:avLst/>
              <a:gdLst>
                <a:gd name="connsiteX0" fmla="*/ 2089424 w 2089424"/>
                <a:gd name="connsiteY0" fmla="*/ 0 h 2074678"/>
                <a:gd name="connsiteX1" fmla="*/ 2089424 w 2089424"/>
                <a:gd name="connsiteY1" fmla="*/ 453333 h 2074678"/>
                <a:gd name="connsiteX2" fmla="*/ 2037039 w 2089424"/>
                <a:gd name="connsiteY2" fmla="*/ 455968 h 2074678"/>
                <a:gd name="connsiteX3" fmla="*/ 489918 w 2089424"/>
                <a:gd name="connsiteY3" fmla="*/ 1997195 h 2074678"/>
                <a:gd name="connsiteX4" fmla="*/ 485990 w 2089424"/>
                <a:gd name="connsiteY4" fmla="*/ 2074678 h 2074678"/>
                <a:gd name="connsiteX5" fmla="*/ 0 w 2089424"/>
                <a:gd name="connsiteY5" fmla="*/ 2074678 h 2074678"/>
                <a:gd name="connsiteX6" fmla="*/ 6365 w 2089424"/>
                <a:gd name="connsiteY6" fmla="*/ 1950853 h 2074678"/>
                <a:gd name="connsiteX7" fmla="*/ 1987342 w 2089424"/>
                <a:gd name="connsiteY7" fmla="*/ 5063 h 2074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9424" h="2074678">
                  <a:moveTo>
                    <a:pt x="2089424" y="0"/>
                  </a:moveTo>
                  <a:lnTo>
                    <a:pt x="2089424" y="453333"/>
                  </a:lnTo>
                  <a:lnTo>
                    <a:pt x="2037039" y="455968"/>
                  </a:lnTo>
                  <a:cubicBezTo>
                    <a:pt x="1221286" y="538497"/>
                    <a:pt x="572762" y="1184550"/>
                    <a:pt x="489918" y="1997195"/>
                  </a:cubicBezTo>
                  <a:lnTo>
                    <a:pt x="485990" y="2074678"/>
                  </a:lnTo>
                  <a:lnTo>
                    <a:pt x="0" y="2074678"/>
                  </a:lnTo>
                  <a:lnTo>
                    <a:pt x="6365" y="1950853"/>
                  </a:lnTo>
                  <a:cubicBezTo>
                    <a:pt x="112441" y="924893"/>
                    <a:pt x="942829" y="109255"/>
                    <a:pt x="1987342" y="5063"/>
                  </a:cubicBezTo>
                  <a:close/>
                </a:path>
              </a:pathLst>
            </a:custGeom>
          </p:spPr>
        </p:pic>
        <p:pic>
          <p:nvPicPr>
            <p:cNvPr id="4" name="Picture 3" descr="A crowd of people at a concert&#10;&#10;Description automatically generated">
              <a:extLst>
                <a:ext uri="{FF2B5EF4-FFF2-40B4-BE49-F238E27FC236}">
                  <a16:creationId xmlns:a16="http://schemas.microsoft.com/office/drawing/2014/main" id="{F61AFC90-C001-7E77-1304-25A3135F75BE}"/>
                </a:ext>
              </a:extLst>
            </p:cNvPr>
            <p:cNvPicPr>
              <a:picLocks noChangeAspect="1"/>
            </p:cNvPicPr>
            <p:nvPr/>
          </p:nvPicPr>
          <p:blipFill>
            <a:blip r:embed="rId3" cstate="hqprint">
              <a:extLst>
                <a:ext uri="{28A0092B-C50C-407E-A947-70E740481C1C}">
                  <a14:useLocalDpi xmlns:a14="http://schemas.microsoft.com/office/drawing/2010/main" val="0"/>
                </a:ext>
              </a:extLst>
            </a:blip>
            <a:srcRect r="29639" b="4166"/>
            <a:stretch>
              <a:fillRect/>
            </a:stretch>
          </p:blipFill>
          <p:spPr>
            <a:xfrm>
              <a:off x="1189217" y="3976376"/>
              <a:ext cx="2906557" cy="2482124"/>
            </a:xfrm>
            <a:custGeom>
              <a:avLst/>
              <a:gdLst>
                <a:gd name="connsiteX0" fmla="*/ 1584877 w 2070878"/>
                <a:gd name="connsiteY0" fmla="*/ 0 h 1916767"/>
                <a:gd name="connsiteX1" fmla="*/ 2070878 w 2070878"/>
                <a:gd name="connsiteY1" fmla="*/ 0 h 1916767"/>
                <a:gd name="connsiteX2" fmla="*/ 2063721 w 2070878"/>
                <a:gd name="connsiteY2" fmla="*/ 127729 h 1916767"/>
                <a:gd name="connsiteX3" fmla="*/ 82744 w 2070878"/>
                <a:gd name="connsiteY3" fmla="*/ 1913002 h 1916767"/>
                <a:gd name="connsiteX4" fmla="*/ 0 w 2070878"/>
                <a:gd name="connsiteY4" fmla="*/ 1916767 h 1916767"/>
                <a:gd name="connsiteX5" fmla="*/ 0 w 2070878"/>
                <a:gd name="connsiteY5" fmla="*/ 1500819 h 1916767"/>
                <a:gd name="connsiteX6" fmla="*/ 33047 w 2070878"/>
                <a:gd name="connsiteY6" fmla="*/ 1499293 h 1916767"/>
                <a:gd name="connsiteX7" fmla="*/ 1580169 w 2070878"/>
                <a:gd name="connsiteY7" fmla="*/ 85210 h 191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0878" h="1916767">
                  <a:moveTo>
                    <a:pt x="1584877" y="0"/>
                  </a:moveTo>
                  <a:lnTo>
                    <a:pt x="2070878" y="0"/>
                  </a:lnTo>
                  <a:lnTo>
                    <a:pt x="2063721" y="127729"/>
                  </a:lnTo>
                  <a:cubicBezTo>
                    <a:pt x="1957645" y="1069053"/>
                    <a:pt x="1127257" y="1817405"/>
                    <a:pt x="82744" y="1913002"/>
                  </a:cubicBezTo>
                  <a:lnTo>
                    <a:pt x="0" y="1916767"/>
                  </a:lnTo>
                  <a:lnTo>
                    <a:pt x="0" y="1500819"/>
                  </a:lnTo>
                  <a:lnTo>
                    <a:pt x="33047" y="1499293"/>
                  </a:lnTo>
                  <a:cubicBezTo>
                    <a:pt x="848801" y="1423573"/>
                    <a:pt x="1497325" y="830816"/>
                    <a:pt x="1580169" y="85210"/>
                  </a:cubicBezTo>
                  <a:close/>
                </a:path>
              </a:pathLst>
            </a:custGeom>
          </p:spPr>
        </p:pic>
        <p:pic>
          <p:nvPicPr>
            <p:cNvPr id="6" name="Picture 5" descr="A person holding money on a table&#10;&#10;Description automatically generated">
              <a:extLst>
                <a:ext uri="{FF2B5EF4-FFF2-40B4-BE49-F238E27FC236}">
                  <a16:creationId xmlns:a16="http://schemas.microsoft.com/office/drawing/2014/main" id="{154F7772-BFB0-A26E-81E2-8FEFC5168B50}"/>
                </a:ext>
              </a:extLst>
            </p:cNvPr>
            <p:cNvPicPr>
              <a:picLocks noChangeAspect="1"/>
            </p:cNvPicPr>
            <p:nvPr/>
          </p:nvPicPr>
          <p:blipFill>
            <a:blip r:embed="rId4" cstate="hqprint">
              <a:extLst>
                <a:ext uri="{28A0092B-C50C-407E-A947-70E740481C1C}">
                  <a14:useLocalDpi xmlns:a14="http://schemas.microsoft.com/office/drawing/2010/main" val="0"/>
                </a:ext>
              </a:extLst>
            </a:blip>
            <a:srcRect l="-4141" t="3748" r="21983" b="-3390"/>
            <a:stretch/>
          </p:blipFill>
          <p:spPr>
            <a:xfrm>
              <a:off x="1189219" y="939115"/>
              <a:ext cx="2899618" cy="2580773"/>
            </a:xfrm>
            <a:custGeom>
              <a:avLst/>
              <a:gdLst>
                <a:gd name="connsiteX0" fmla="*/ 0 w 2065935"/>
                <a:gd name="connsiteY0" fmla="*/ 0 h 1992947"/>
                <a:gd name="connsiteX1" fmla="*/ 82745 w 2065935"/>
                <a:gd name="connsiteY1" fmla="*/ 4104 h 1992947"/>
                <a:gd name="connsiteX2" fmla="*/ 2063722 w 2065935"/>
                <a:gd name="connsiteY2" fmla="*/ 1949894 h 1992947"/>
                <a:gd name="connsiteX3" fmla="*/ 2065935 w 2065935"/>
                <a:gd name="connsiteY3" fmla="*/ 1992947 h 1992947"/>
                <a:gd name="connsiteX4" fmla="*/ 1579667 w 2065935"/>
                <a:gd name="connsiteY4" fmla="*/ 1992947 h 1992947"/>
                <a:gd name="connsiteX5" fmla="*/ 1553905 w 2065935"/>
                <a:gd name="connsiteY5" fmla="*/ 1824792 h 1992947"/>
                <a:gd name="connsiteX6" fmla="*/ 33048 w 2065935"/>
                <a:gd name="connsiteY6" fmla="*/ 455009 h 1992947"/>
                <a:gd name="connsiteX7" fmla="*/ 0 w 2065935"/>
                <a:gd name="connsiteY7" fmla="*/ 453347 h 199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935" h="1992947">
                  <a:moveTo>
                    <a:pt x="0" y="0"/>
                  </a:moveTo>
                  <a:lnTo>
                    <a:pt x="82745" y="4104"/>
                  </a:lnTo>
                  <a:cubicBezTo>
                    <a:pt x="1127258" y="108296"/>
                    <a:pt x="1957646" y="923934"/>
                    <a:pt x="2063722" y="1949894"/>
                  </a:cubicBezTo>
                  <a:lnTo>
                    <a:pt x="2065935" y="1992947"/>
                  </a:lnTo>
                  <a:lnTo>
                    <a:pt x="1579667" y="1992947"/>
                  </a:lnTo>
                  <a:lnTo>
                    <a:pt x="1553905" y="1824792"/>
                  </a:lnTo>
                  <a:cubicBezTo>
                    <a:pt x="1403827" y="1094173"/>
                    <a:pt x="790534" y="531643"/>
                    <a:pt x="33048" y="455009"/>
                  </a:cubicBezTo>
                  <a:lnTo>
                    <a:pt x="0" y="453347"/>
                  </a:lnTo>
                  <a:close/>
                </a:path>
              </a:pathLst>
            </a:custGeom>
          </p:spPr>
        </p:pic>
        <p:pic>
          <p:nvPicPr>
            <p:cNvPr id="7" name="Picture 6" descr="A large crowd of people at a concert&#10;&#10;Description automatically generated">
              <a:extLst>
                <a:ext uri="{FF2B5EF4-FFF2-40B4-BE49-F238E27FC236}">
                  <a16:creationId xmlns:a16="http://schemas.microsoft.com/office/drawing/2014/main" id="{F6808788-5A30-8EEC-71D3-6134A9D89234}"/>
                </a:ext>
              </a:extLst>
            </p:cNvPr>
            <p:cNvPicPr>
              <a:picLocks noChangeAspect="1"/>
            </p:cNvPicPr>
            <p:nvPr/>
          </p:nvPicPr>
          <p:blipFill>
            <a:blip r:embed="rId5" cstate="hqprint">
              <a:extLst>
                <a:ext uri="{28A0092B-C50C-407E-A947-70E740481C1C}">
                  <a14:useLocalDpi xmlns:a14="http://schemas.microsoft.com/office/drawing/2010/main" val="0"/>
                </a:ext>
              </a:extLst>
            </a:blip>
            <a:srcRect l="18696" t="3213" r="1609" b="11437"/>
            <a:stretch/>
          </p:blipFill>
          <p:spPr>
            <a:xfrm>
              <a:off x="-2201657" y="3970835"/>
              <a:ext cx="3047709" cy="2493575"/>
            </a:xfrm>
            <a:custGeom>
              <a:avLst/>
              <a:gdLst>
                <a:gd name="connsiteX0" fmla="*/ 0 w 2171448"/>
                <a:gd name="connsiteY0" fmla="*/ 0 h 1925610"/>
                <a:gd name="connsiteX1" fmla="*/ 486005 w 2171448"/>
                <a:gd name="connsiteY1" fmla="*/ 0 h 1925610"/>
                <a:gd name="connsiteX2" fmla="*/ 490949 w 2171448"/>
                <a:gd name="connsiteY2" fmla="*/ 89487 h 1925610"/>
                <a:gd name="connsiteX3" fmla="*/ 2038070 w 2171448"/>
                <a:gd name="connsiteY3" fmla="*/ 1503570 h 1925610"/>
                <a:gd name="connsiteX4" fmla="*/ 2171448 w 2171448"/>
                <a:gd name="connsiteY4" fmla="*/ 1509726 h 1925610"/>
                <a:gd name="connsiteX5" fmla="*/ 2171448 w 2171448"/>
                <a:gd name="connsiteY5" fmla="*/ 1925610 h 1925610"/>
                <a:gd name="connsiteX6" fmla="*/ 1988373 w 2171448"/>
                <a:gd name="connsiteY6" fmla="*/ 1917279 h 1925610"/>
                <a:gd name="connsiteX7" fmla="*/ 7396 w 2171448"/>
                <a:gd name="connsiteY7" fmla="*/ 132006 h 19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1448" h="1925610">
                  <a:moveTo>
                    <a:pt x="0" y="0"/>
                  </a:moveTo>
                  <a:lnTo>
                    <a:pt x="486005" y="0"/>
                  </a:lnTo>
                  <a:lnTo>
                    <a:pt x="490949" y="89487"/>
                  </a:lnTo>
                  <a:cubicBezTo>
                    <a:pt x="573793" y="835093"/>
                    <a:pt x="1222317" y="1427850"/>
                    <a:pt x="2038070" y="1503570"/>
                  </a:cubicBezTo>
                  <a:lnTo>
                    <a:pt x="2171448" y="1509726"/>
                  </a:lnTo>
                  <a:lnTo>
                    <a:pt x="2171448" y="1925610"/>
                  </a:lnTo>
                  <a:lnTo>
                    <a:pt x="1988373" y="1917279"/>
                  </a:lnTo>
                  <a:cubicBezTo>
                    <a:pt x="943860" y="1821682"/>
                    <a:pt x="113472" y="1073330"/>
                    <a:pt x="7396" y="132006"/>
                  </a:cubicBezTo>
                  <a:close/>
                </a:path>
              </a:pathLst>
            </a:custGeom>
          </p:spPr>
        </p:pic>
      </p:grpSp>
    </p:spTree>
    <p:extLst>
      <p:ext uri="{BB962C8B-B14F-4D97-AF65-F5344CB8AC3E}">
        <p14:creationId xmlns:p14="http://schemas.microsoft.com/office/powerpoint/2010/main" val="4342101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EB59E4-9452-93BF-A3D2-12118B130F50}"/>
              </a:ext>
            </a:extLst>
          </p:cNvPr>
          <p:cNvSpPr txBox="1"/>
          <p:nvPr/>
        </p:nvSpPr>
        <p:spPr>
          <a:xfrm>
            <a:off x="2795204" y="453137"/>
            <a:ext cx="1588897" cy="584775"/>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Events </a:t>
            </a:r>
          </a:p>
        </p:txBody>
      </p:sp>
      <p:sp>
        <p:nvSpPr>
          <p:cNvPr id="5" name="TextBox 4">
            <a:extLst>
              <a:ext uri="{FF2B5EF4-FFF2-40B4-BE49-F238E27FC236}">
                <a16:creationId xmlns:a16="http://schemas.microsoft.com/office/drawing/2014/main" id="{7CF1E25F-F2E6-C3B9-B02D-8ABFADF5BA92}"/>
              </a:ext>
            </a:extLst>
          </p:cNvPr>
          <p:cNvSpPr txBox="1"/>
          <p:nvPr/>
        </p:nvSpPr>
        <p:spPr>
          <a:xfrm>
            <a:off x="3379758" y="1118773"/>
            <a:ext cx="7722492" cy="3539430"/>
          </a:xfrm>
          <a:prstGeom prst="rect">
            <a:avLst/>
          </a:prstGeom>
          <a:noFill/>
        </p:spPr>
        <p:txBody>
          <a:bodyPr wrap="square" rtlCol="0">
            <a:spAutoFit/>
          </a:bodyPr>
          <a:lstStyle/>
          <a:p>
            <a:pPr algn="ctr"/>
            <a:r>
              <a:rPr lang="en-US" sz="1600" dirty="0">
                <a:latin typeface="Abadi" panose="020B0604020104020204" pitchFamily="34" charset="0"/>
                <a:ea typeface="ADLaM Display" panose="02010000000000000000" pitchFamily="2" charset="0"/>
                <a:cs typeface="ADLaM Display" panose="02010000000000000000" pitchFamily="2" charset="0"/>
              </a:rPr>
              <a:t>INSERT INTO Events (</a:t>
            </a:r>
            <a:r>
              <a:rPr lang="en-US" sz="1600" dirty="0" err="1">
                <a:latin typeface="Abadi" panose="020B0604020104020204" pitchFamily="34" charset="0"/>
                <a:ea typeface="ADLaM Display" panose="02010000000000000000" pitchFamily="2" charset="0"/>
                <a:cs typeface="ADLaM Display" panose="02010000000000000000" pitchFamily="2" charset="0"/>
              </a:rPr>
              <a:t>event_id</a:t>
            </a:r>
            <a:r>
              <a:rPr lang="en-US" sz="1600" dirty="0">
                <a:latin typeface="Abadi" panose="020B0604020104020204" pitchFamily="34" charset="0"/>
                <a:ea typeface="ADLaM Display" panose="02010000000000000000" pitchFamily="2" charset="0"/>
                <a:cs typeface="ADLaM Display" panose="02010000000000000000" pitchFamily="2" charset="0"/>
              </a:rPr>
              <a:t>, </a:t>
            </a:r>
            <a:r>
              <a:rPr lang="en-US" sz="1600" dirty="0" err="1">
                <a:latin typeface="Abadi" panose="020B0604020104020204" pitchFamily="34" charset="0"/>
                <a:ea typeface="ADLaM Display" panose="02010000000000000000" pitchFamily="2" charset="0"/>
                <a:cs typeface="ADLaM Display" panose="02010000000000000000" pitchFamily="2" charset="0"/>
              </a:rPr>
              <a:t>event_name</a:t>
            </a:r>
            <a:r>
              <a:rPr lang="en-US" sz="1600" dirty="0">
                <a:latin typeface="Abadi" panose="020B0604020104020204" pitchFamily="34" charset="0"/>
                <a:ea typeface="ADLaM Display" panose="02010000000000000000" pitchFamily="2" charset="0"/>
                <a:cs typeface="ADLaM Display" panose="02010000000000000000" pitchFamily="2" charset="0"/>
              </a:rPr>
              <a:t>, </a:t>
            </a:r>
            <a:r>
              <a:rPr lang="en-US" sz="1600" dirty="0" err="1">
                <a:latin typeface="Abadi" panose="020B0604020104020204" pitchFamily="34" charset="0"/>
                <a:ea typeface="ADLaM Display" panose="02010000000000000000" pitchFamily="2" charset="0"/>
                <a:cs typeface="ADLaM Display" panose="02010000000000000000" pitchFamily="2" charset="0"/>
              </a:rPr>
              <a:t>event_date</a:t>
            </a:r>
            <a:r>
              <a:rPr lang="en-US" sz="1600" dirty="0">
                <a:latin typeface="Abadi" panose="020B0604020104020204" pitchFamily="34" charset="0"/>
                <a:ea typeface="ADLaM Display" panose="02010000000000000000" pitchFamily="2" charset="0"/>
                <a:cs typeface="ADLaM Display" panose="02010000000000000000" pitchFamily="2" charset="0"/>
              </a:rPr>
              <a:t>, location, capacity) VALUES(1, 'Annual Gala', '2024-01-15 19:00:00', 'Club House Ballroom', 150),(2, 'Spring BBQ', '2024-04-10 12:00:00', 'Club Garden', 100),(3, 'New Year’s Celebration', '2024-06-05 09:00:00', 'Club Sports Field', 200),(4, 'Monthly Book Club', '2024-02-20 18:00:00', 'Library Room', 30),(5, 'Cooking Class', '2024-03-15 08:00:00', 'City Park', 500),(6, 'Wine Tasting Night', '2024-05-22 18:30:00', 'Club Wine Cellar', 50),(7, 'Movie Night', '2024-07-10 20:00:00', 'Outdoor Cinema', 200),(8, 'Cooking Class', '2024-08-15 15:00:00', 'Club Kitchen', 20),(9, 'Art Exhibition', '2024-09-12 17:00:00', 'Gallery Room', 100),(10, 'Cooking Class', '2024-10-25 18:00:00', 'Lounge Area', 150),(11, 'Family Fun Day', '2024-12-15 16:00:00', 'Dining Hall', 80),(12, 'Family Fun Day', '2024-07-20 10:00:00', 'Club Playground', 150),(13, 'Movie Night', '2024-11-05 09:00:00', 'Fitness Center', 200),(14, 'Trivia Night', '2024-02-28 19:00:00', 'Game Room', 50),(15, 'New Year’s Celebration', '2025-01-01 21:00:00', 'Club House', 300);</a:t>
            </a:r>
            <a:endParaRPr lang="en-IN" sz="1600" dirty="0">
              <a:latin typeface="Abadi" panose="020B0604020104020204" pitchFamily="34" charset="0"/>
              <a:ea typeface="ADLaM Display" panose="02010000000000000000" pitchFamily="2" charset="0"/>
              <a:cs typeface="ADLaM Display" panose="02010000000000000000" pitchFamily="2" charset="0"/>
            </a:endParaRPr>
          </a:p>
        </p:txBody>
      </p:sp>
      <p:sp>
        <p:nvSpPr>
          <p:cNvPr id="79" name="TextBox 78">
            <a:extLst>
              <a:ext uri="{FF2B5EF4-FFF2-40B4-BE49-F238E27FC236}">
                <a16:creationId xmlns:a16="http://schemas.microsoft.com/office/drawing/2014/main" id="{ED37BD9B-B37F-A6F1-ED0F-F0CA42DF941C}"/>
              </a:ext>
            </a:extLst>
          </p:cNvPr>
          <p:cNvSpPr txBox="1"/>
          <p:nvPr/>
        </p:nvSpPr>
        <p:spPr>
          <a:xfrm>
            <a:off x="145996" y="2900736"/>
            <a:ext cx="1200041" cy="481729"/>
          </a:xfrm>
          <a:prstGeom prst="rect">
            <a:avLst/>
          </a:prstGeom>
          <a:noFill/>
        </p:spPr>
        <p:txBody>
          <a:bodyPr wrap="none" rtlCol="0">
            <a:spAutoFit/>
          </a:bodyPr>
          <a:lstStyle/>
          <a:p>
            <a:pPr algn="ctr"/>
            <a:r>
              <a:rPr lang="en-IN" sz="3200" dirty="0">
                <a:latin typeface="ADLaM Display" panose="02010000000000000000" pitchFamily="2" charset="0"/>
                <a:ea typeface="ADLaM Display" panose="02010000000000000000" pitchFamily="2" charset="0"/>
                <a:cs typeface="ADLaM Display" panose="02010000000000000000" pitchFamily="2" charset="0"/>
              </a:rPr>
              <a:t>Tables</a:t>
            </a:r>
          </a:p>
        </p:txBody>
      </p:sp>
      <p:grpSp>
        <p:nvGrpSpPr>
          <p:cNvPr id="13" name="Group 12">
            <a:extLst>
              <a:ext uri="{FF2B5EF4-FFF2-40B4-BE49-F238E27FC236}">
                <a16:creationId xmlns:a16="http://schemas.microsoft.com/office/drawing/2014/main" id="{F558D770-6DB1-E5F3-502D-67847F9C16E2}"/>
              </a:ext>
            </a:extLst>
          </p:cNvPr>
          <p:cNvGrpSpPr/>
          <p:nvPr/>
        </p:nvGrpSpPr>
        <p:grpSpPr>
          <a:xfrm rot="11140890">
            <a:off x="-2870363" y="720918"/>
            <a:ext cx="6085582" cy="5655734"/>
            <a:chOff x="-2224441" y="937873"/>
            <a:chExt cx="6320215" cy="5850838"/>
          </a:xfrm>
        </p:grpSpPr>
        <p:pic>
          <p:nvPicPr>
            <p:cNvPr id="9" name="Picture 8" descr="A reserved sign on a table&#10;&#10;Description automatically generated">
              <a:extLst>
                <a:ext uri="{FF2B5EF4-FFF2-40B4-BE49-F238E27FC236}">
                  <a16:creationId xmlns:a16="http://schemas.microsoft.com/office/drawing/2014/main" id="{DF330C8E-674F-E95E-A7CC-901ABB7C32A5}"/>
                </a:ext>
              </a:extLst>
            </p:cNvPr>
            <p:cNvPicPr>
              <a:picLocks noChangeAspect="1"/>
            </p:cNvPicPr>
            <p:nvPr/>
          </p:nvPicPr>
          <p:blipFill>
            <a:blip r:embed="rId2" cstate="hqprint">
              <a:extLst>
                <a:ext uri="{28A0092B-C50C-407E-A947-70E740481C1C}">
                  <a14:useLocalDpi xmlns:a14="http://schemas.microsoft.com/office/drawing/2010/main" val="0"/>
                </a:ext>
              </a:extLst>
            </a:blip>
            <a:srcRect l="20310" t="13703"/>
            <a:stretch>
              <a:fillRect/>
            </a:stretch>
          </p:blipFill>
          <p:spPr>
            <a:xfrm>
              <a:off x="-2200211" y="937873"/>
              <a:ext cx="2932585" cy="2686611"/>
            </a:xfrm>
            <a:custGeom>
              <a:avLst/>
              <a:gdLst>
                <a:gd name="connsiteX0" fmla="*/ 2089424 w 2089424"/>
                <a:gd name="connsiteY0" fmla="*/ 0 h 2074678"/>
                <a:gd name="connsiteX1" fmla="*/ 2089424 w 2089424"/>
                <a:gd name="connsiteY1" fmla="*/ 453333 h 2074678"/>
                <a:gd name="connsiteX2" fmla="*/ 2037039 w 2089424"/>
                <a:gd name="connsiteY2" fmla="*/ 455968 h 2074678"/>
                <a:gd name="connsiteX3" fmla="*/ 489918 w 2089424"/>
                <a:gd name="connsiteY3" fmla="*/ 1997195 h 2074678"/>
                <a:gd name="connsiteX4" fmla="*/ 485990 w 2089424"/>
                <a:gd name="connsiteY4" fmla="*/ 2074678 h 2074678"/>
                <a:gd name="connsiteX5" fmla="*/ 0 w 2089424"/>
                <a:gd name="connsiteY5" fmla="*/ 2074678 h 2074678"/>
                <a:gd name="connsiteX6" fmla="*/ 6365 w 2089424"/>
                <a:gd name="connsiteY6" fmla="*/ 1950853 h 2074678"/>
                <a:gd name="connsiteX7" fmla="*/ 1987342 w 2089424"/>
                <a:gd name="connsiteY7" fmla="*/ 5063 h 2074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9424" h="2074678">
                  <a:moveTo>
                    <a:pt x="2089424" y="0"/>
                  </a:moveTo>
                  <a:lnTo>
                    <a:pt x="2089424" y="453333"/>
                  </a:lnTo>
                  <a:lnTo>
                    <a:pt x="2037039" y="455968"/>
                  </a:lnTo>
                  <a:cubicBezTo>
                    <a:pt x="1221286" y="538497"/>
                    <a:pt x="572762" y="1184550"/>
                    <a:pt x="489918" y="1997195"/>
                  </a:cubicBezTo>
                  <a:lnTo>
                    <a:pt x="485990" y="2074678"/>
                  </a:lnTo>
                  <a:lnTo>
                    <a:pt x="0" y="2074678"/>
                  </a:lnTo>
                  <a:lnTo>
                    <a:pt x="6365" y="1950853"/>
                  </a:lnTo>
                  <a:cubicBezTo>
                    <a:pt x="112441" y="924893"/>
                    <a:pt x="942829" y="109255"/>
                    <a:pt x="1987342" y="5063"/>
                  </a:cubicBezTo>
                  <a:close/>
                </a:path>
              </a:pathLst>
            </a:custGeom>
          </p:spPr>
        </p:pic>
        <p:pic>
          <p:nvPicPr>
            <p:cNvPr id="10" name="Picture 9" descr="A crowd of people at a concert&#10;&#10;Description automatically generated">
              <a:extLst>
                <a:ext uri="{FF2B5EF4-FFF2-40B4-BE49-F238E27FC236}">
                  <a16:creationId xmlns:a16="http://schemas.microsoft.com/office/drawing/2014/main" id="{20549BB1-298C-9747-72C5-B3915467E63A}"/>
                </a:ext>
              </a:extLst>
            </p:cNvPr>
            <p:cNvPicPr>
              <a:picLocks noChangeAspect="1"/>
            </p:cNvPicPr>
            <p:nvPr/>
          </p:nvPicPr>
          <p:blipFill>
            <a:blip r:embed="rId3" cstate="hqprint">
              <a:extLst>
                <a:ext uri="{28A0092B-C50C-407E-A947-70E740481C1C}">
                  <a14:useLocalDpi xmlns:a14="http://schemas.microsoft.com/office/drawing/2010/main" val="0"/>
                </a:ext>
              </a:extLst>
            </a:blip>
            <a:srcRect r="29639" b="4166"/>
            <a:stretch>
              <a:fillRect/>
            </a:stretch>
          </p:blipFill>
          <p:spPr>
            <a:xfrm>
              <a:off x="1189219" y="3976376"/>
              <a:ext cx="2906555" cy="2482124"/>
            </a:xfrm>
            <a:custGeom>
              <a:avLst/>
              <a:gdLst>
                <a:gd name="connsiteX0" fmla="*/ 1584877 w 2070878"/>
                <a:gd name="connsiteY0" fmla="*/ 0 h 1916767"/>
                <a:gd name="connsiteX1" fmla="*/ 2070878 w 2070878"/>
                <a:gd name="connsiteY1" fmla="*/ 0 h 1916767"/>
                <a:gd name="connsiteX2" fmla="*/ 2063721 w 2070878"/>
                <a:gd name="connsiteY2" fmla="*/ 127729 h 1916767"/>
                <a:gd name="connsiteX3" fmla="*/ 82744 w 2070878"/>
                <a:gd name="connsiteY3" fmla="*/ 1913002 h 1916767"/>
                <a:gd name="connsiteX4" fmla="*/ 0 w 2070878"/>
                <a:gd name="connsiteY4" fmla="*/ 1916767 h 1916767"/>
                <a:gd name="connsiteX5" fmla="*/ 0 w 2070878"/>
                <a:gd name="connsiteY5" fmla="*/ 1500819 h 1916767"/>
                <a:gd name="connsiteX6" fmla="*/ 33047 w 2070878"/>
                <a:gd name="connsiteY6" fmla="*/ 1499293 h 1916767"/>
                <a:gd name="connsiteX7" fmla="*/ 1580169 w 2070878"/>
                <a:gd name="connsiteY7" fmla="*/ 85210 h 1916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0878" h="1916767">
                  <a:moveTo>
                    <a:pt x="1584877" y="0"/>
                  </a:moveTo>
                  <a:lnTo>
                    <a:pt x="2070878" y="0"/>
                  </a:lnTo>
                  <a:lnTo>
                    <a:pt x="2063721" y="127729"/>
                  </a:lnTo>
                  <a:cubicBezTo>
                    <a:pt x="1957645" y="1069053"/>
                    <a:pt x="1127257" y="1817405"/>
                    <a:pt x="82744" y="1913002"/>
                  </a:cubicBezTo>
                  <a:lnTo>
                    <a:pt x="0" y="1916767"/>
                  </a:lnTo>
                  <a:lnTo>
                    <a:pt x="0" y="1500819"/>
                  </a:lnTo>
                  <a:lnTo>
                    <a:pt x="33047" y="1499293"/>
                  </a:lnTo>
                  <a:cubicBezTo>
                    <a:pt x="848801" y="1423573"/>
                    <a:pt x="1497325" y="830816"/>
                    <a:pt x="1580169" y="85210"/>
                  </a:cubicBezTo>
                  <a:close/>
                </a:path>
              </a:pathLst>
            </a:custGeom>
          </p:spPr>
        </p:pic>
        <p:pic>
          <p:nvPicPr>
            <p:cNvPr id="11" name="Picture 10" descr="A person holding money on a table&#10;&#10;Description automatically generated">
              <a:extLst>
                <a:ext uri="{FF2B5EF4-FFF2-40B4-BE49-F238E27FC236}">
                  <a16:creationId xmlns:a16="http://schemas.microsoft.com/office/drawing/2014/main" id="{9D727059-8590-40B7-44A1-28F7DEE84F76}"/>
                </a:ext>
              </a:extLst>
            </p:cNvPr>
            <p:cNvPicPr>
              <a:picLocks noChangeAspect="1"/>
            </p:cNvPicPr>
            <p:nvPr/>
          </p:nvPicPr>
          <p:blipFill>
            <a:blip r:embed="rId4" cstate="hqprint">
              <a:extLst>
                <a:ext uri="{28A0092B-C50C-407E-A947-70E740481C1C}">
                  <a14:useLocalDpi xmlns:a14="http://schemas.microsoft.com/office/drawing/2010/main" val="0"/>
                </a:ext>
              </a:extLst>
            </a:blip>
            <a:srcRect l="-4141" t="3748" r="21983" b="-3390"/>
            <a:stretch/>
          </p:blipFill>
          <p:spPr>
            <a:xfrm>
              <a:off x="1189219" y="939116"/>
              <a:ext cx="2899618" cy="2580773"/>
            </a:xfrm>
            <a:custGeom>
              <a:avLst/>
              <a:gdLst>
                <a:gd name="connsiteX0" fmla="*/ 0 w 2065935"/>
                <a:gd name="connsiteY0" fmla="*/ 0 h 1992947"/>
                <a:gd name="connsiteX1" fmla="*/ 82745 w 2065935"/>
                <a:gd name="connsiteY1" fmla="*/ 4104 h 1992947"/>
                <a:gd name="connsiteX2" fmla="*/ 2063722 w 2065935"/>
                <a:gd name="connsiteY2" fmla="*/ 1949894 h 1992947"/>
                <a:gd name="connsiteX3" fmla="*/ 2065935 w 2065935"/>
                <a:gd name="connsiteY3" fmla="*/ 1992947 h 1992947"/>
                <a:gd name="connsiteX4" fmla="*/ 1579667 w 2065935"/>
                <a:gd name="connsiteY4" fmla="*/ 1992947 h 1992947"/>
                <a:gd name="connsiteX5" fmla="*/ 1553905 w 2065935"/>
                <a:gd name="connsiteY5" fmla="*/ 1824792 h 1992947"/>
                <a:gd name="connsiteX6" fmla="*/ 33048 w 2065935"/>
                <a:gd name="connsiteY6" fmla="*/ 455009 h 1992947"/>
                <a:gd name="connsiteX7" fmla="*/ 0 w 2065935"/>
                <a:gd name="connsiteY7" fmla="*/ 453347 h 199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935" h="1992947">
                  <a:moveTo>
                    <a:pt x="0" y="0"/>
                  </a:moveTo>
                  <a:lnTo>
                    <a:pt x="82745" y="4104"/>
                  </a:lnTo>
                  <a:cubicBezTo>
                    <a:pt x="1127258" y="108296"/>
                    <a:pt x="1957646" y="923934"/>
                    <a:pt x="2063722" y="1949894"/>
                  </a:cubicBezTo>
                  <a:lnTo>
                    <a:pt x="2065935" y="1992947"/>
                  </a:lnTo>
                  <a:lnTo>
                    <a:pt x="1579667" y="1992947"/>
                  </a:lnTo>
                  <a:lnTo>
                    <a:pt x="1553905" y="1824792"/>
                  </a:lnTo>
                  <a:cubicBezTo>
                    <a:pt x="1403827" y="1094173"/>
                    <a:pt x="790534" y="531643"/>
                    <a:pt x="33048" y="455009"/>
                  </a:cubicBezTo>
                  <a:lnTo>
                    <a:pt x="0" y="453347"/>
                  </a:lnTo>
                  <a:close/>
                </a:path>
              </a:pathLst>
            </a:custGeom>
          </p:spPr>
        </p:pic>
        <p:pic>
          <p:nvPicPr>
            <p:cNvPr id="12" name="Picture 11" descr="A large crowd of people at a concert&#10;&#10;Description automatically generated">
              <a:extLst>
                <a:ext uri="{FF2B5EF4-FFF2-40B4-BE49-F238E27FC236}">
                  <a16:creationId xmlns:a16="http://schemas.microsoft.com/office/drawing/2014/main" id="{8D93314C-E1CD-29B2-C386-A8F43F25E335}"/>
                </a:ext>
              </a:extLst>
            </p:cNvPr>
            <p:cNvPicPr>
              <a:picLocks noChangeAspect="1"/>
            </p:cNvPicPr>
            <p:nvPr/>
          </p:nvPicPr>
          <p:blipFill>
            <a:blip r:embed="rId5" cstate="hqprint">
              <a:extLst>
                <a:ext uri="{28A0092B-C50C-407E-A947-70E740481C1C}">
                  <a14:useLocalDpi xmlns:a14="http://schemas.microsoft.com/office/drawing/2010/main" val="0"/>
                </a:ext>
              </a:extLst>
            </a:blip>
            <a:srcRect l="18696" t="3213" r="1609" b="11437"/>
            <a:stretch/>
          </p:blipFill>
          <p:spPr>
            <a:xfrm>
              <a:off x="-2224441" y="4295136"/>
              <a:ext cx="3047709" cy="2493575"/>
            </a:xfrm>
            <a:custGeom>
              <a:avLst/>
              <a:gdLst>
                <a:gd name="connsiteX0" fmla="*/ 0 w 2171448"/>
                <a:gd name="connsiteY0" fmla="*/ 0 h 1925610"/>
                <a:gd name="connsiteX1" fmla="*/ 486005 w 2171448"/>
                <a:gd name="connsiteY1" fmla="*/ 0 h 1925610"/>
                <a:gd name="connsiteX2" fmla="*/ 490949 w 2171448"/>
                <a:gd name="connsiteY2" fmla="*/ 89487 h 1925610"/>
                <a:gd name="connsiteX3" fmla="*/ 2038070 w 2171448"/>
                <a:gd name="connsiteY3" fmla="*/ 1503570 h 1925610"/>
                <a:gd name="connsiteX4" fmla="*/ 2171448 w 2171448"/>
                <a:gd name="connsiteY4" fmla="*/ 1509726 h 1925610"/>
                <a:gd name="connsiteX5" fmla="*/ 2171448 w 2171448"/>
                <a:gd name="connsiteY5" fmla="*/ 1925610 h 1925610"/>
                <a:gd name="connsiteX6" fmla="*/ 1988373 w 2171448"/>
                <a:gd name="connsiteY6" fmla="*/ 1917279 h 1925610"/>
                <a:gd name="connsiteX7" fmla="*/ 7396 w 2171448"/>
                <a:gd name="connsiteY7" fmla="*/ 132006 h 192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71448" h="1925610">
                  <a:moveTo>
                    <a:pt x="0" y="0"/>
                  </a:moveTo>
                  <a:lnTo>
                    <a:pt x="486005" y="0"/>
                  </a:lnTo>
                  <a:lnTo>
                    <a:pt x="490949" y="89487"/>
                  </a:lnTo>
                  <a:cubicBezTo>
                    <a:pt x="573793" y="835093"/>
                    <a:pt x="1222317" y="1427850"/>
                    <a:pt x="2038070" y="1503570"/>
                  </a:cubicBezTo>
                  <a:lnTo>
                    <a:pt x="2171448" y="1509726"/>
                  </a:lnTo>
                  <a:lnTo>
                    <a:pt x="2171448" y="1925610"/>
                  </a:lnTo>
                  <a:lnTo>
                    <a:pt x="1988373" y="1917279"/>
                  </a:lnTo>
                  <a:cubicBezTo>
                    <a:pt x="943860" y="1821682"/>
                    <a:pt x="113472" y="1073330"/>
                    <a:pt x="7396" y="132006"/>
                  </a:cubicBezTo>
                  <a:close/>
                </a:path>
              </a:pathLst>
            </a:custGeom>
          </p:spPr>
        </p:pic>
      </p:grpSp>
    </p:spTree>
    <p:extLst>
      <p:ext uri="{BB962C8B-B14F-4D97-AF65-F5344CB8AC3E}">
        <p14:creationId xmlns:p14="http://schemas.microsoft.com/office/powerpoint/2010/main" val="27818214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000" b="-8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FB3FE-013B-DF4C-5C3D-8DF821A39DDE}"/>
              </a:ext>
            </a:extLst>
          </p:cNvPr>
          <p:cNvSpPr txBox="1"/>
          <p:nvPr/>
        </p:nvSpPr>
        <p:spPr>
          <a:xfrm>
            <a:off x="1856249" y="1309132"/>
            <a:ext cx="5551714" cy="400110"/>
          </a:xfrm>
          <a:prstGeom prst="rect">
            <a:avLst/>
          </a:prstGeom>
          <a:noFill/>
        </p:spPr>
        <p:txBody>
          <a:bodyPr wrap="square" rtlCol="0">
            <a:spAutoFit/>
          </a:bodyPr>
          <a:lstStyle/>
          <a:p>
            <a:r>
              <a:rPr lang="en-IN" sz="2000" dirty="0" err="1">
                <a:solidFill>
                  <a:schemeClr val="bg1">
                    <a:lumMod val="95000"/>
                  </a:schemeClr>
                </a:solidFill>
                <a:latin typeface="Copperplate Gothic Bold" panose="020E0705020206020404" pitchFamily="34" charset="0"/>
              </a:rPr>
              <a:t>OutPut</a:t>
            </a:r>
            <a:r>
              <a:rPr lang="en-IN" sz="2000" dirty="0">
                <a:solidFill>
                  <a:schemeClr val="bg1">
                    <a:lumMod val="95000"/>
                  </a:schemeClr>
                </a:solidFill>
                <a:latin typeface="Copperplate Gothic Bold" panose="020E0705020206020404" pitchFamily="34" charset="0"/>
              </a:rPr>
              <a:t> Of Member</a:t>
            </a:r>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15670" t="43798" r="32895" b="37266"/>
          <a:stretch/>
        </p:blipFill>
        <p:spPr>
          <a:xfrm>
            <a:off x="180474" y="2466474"/>
            <a:ext cx="5551714" cy="3320716"/>
          </a:xfrm>
          <a:prstGeom prst="rect">
            <a:avLst/>
          </a:prstGeom>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15431" t="43586" r="46651" b="37692"/>
          <a:stretch/>
        </p:blipFill>
        <p:spPr>
          <a:xfrm>
            <a:off x="6545179" y="2466474"/>
            <a:ext cx="5414209" cy="3320716"/>
          </a:xfrm>
          <a:prstGeom prst="rect">
            <a:avLst/>
          </a:prstGeom>
        </p:spPr>
      </p:pic>
      <p:sp>
        <p:nvSpPr>
          <p:cNvPr id="5" name="TextBox 4">
            <a:extLst>
              <a:ext uri="{FF2B5EF4-FFF2-40B4-BE49-F238E27FC236}">
                <a16:creationId xmlns:a16="http://schemas.microsoft.com/office/drawing/2014/main" id="{D783B859-F3F8-610B-1AA4-DDA621BF9085}"/>
              </a:ext>
            </a:extLst>
          </p:cNvPr>
          <p:cNvSpPr txBox="1"/>
          <p:nvPr/>
        </p:nvSpPr>
        <p:spPr>
          <a:xfrm>
            <a:off x="7835556" y="1254272"/>
            <a:ext cx="4495800" cy="400110"/>
          </a:xfrm>
          <a:prstGeom prst="rect">
            <a:avLst/>
          </a:prstGeom>
          <a:noFill/>
        </p:spPr>
        <p:txBody>
          <a:bodyPr wrap="square" rtlCol="0">
            <a:spAutoFit/>
          </a:bodyPr>
          <a:lstStyle/>
          <a:p>
            <a:r>
              <a:rPr lang="en-IN" sz="2000" dirty="0" err="1">
                <a:solidFill>
                  <a:schemeClr val="bg1">
                    <a:lumMod val="95000"/>
                  </a:schemeClr>
                </a:solidFill>
                <a:latin typeface="Copperplate Gothic Bold" panose="020E0705020206020404" pitchFamily="34" charset="0"/>
              </a:rPr>
              <a:t>OutPut</a:t>
            </a:r>
            <a:r>
              <a:rPr lang="en-IN" sz="2000" dirty="0">
                <a:solidFill>
                  <a:schemeClr val="bg1">
                    <a:lumMod val="95000"/>
                  </a:schemeClr>
                </a:solidFill>
                <a:latin typeface="Copperplate Gothic Bold" panose="020E0705020206020404" pitchFamily="34" charset="0"/>
              </a:rPr>
              <a:t> of Payment</a:t>
            </a:r>
          </a:p>
        </p:txBody>
      </p:sp>
    </p:spTree>
    <p:extLst>
      <p:ext uri="{BB962C8B-B14F-4D97-AF65-F5344CB8AC3E}">
        <p14:creationId xmlns:p14="http://schemas.microsoft.com/office/powerpoint/2010/main" val="38045851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CBCE5F-3287-6CDD-38DD-D68C575FF25C}"/>
              </a:ext>
            </a:extLst>
          </p:cNvPr>
          <p:cNvSpPr txBox="1"/>
          <p:nvPr/>
        </p:nvSpPr>
        <p:spPr>
          <a:xfrm>
            <a:off x="939186" y="1587398"/>
            <a:ext cx="5447546" cy="400110"/>
          </a:xfrm>
          <a:prstGeom prst="rect">
            <a:avLst/>
          </a:prstGeom>
          <a:noFill/>
        </p:spPr>
        <p:txBody>
          <a:bodyPr wrap="square" rtlCol="0">
            <a:spAutoFit/>
          </a:bodyPr>
          <a:lstStyle/>
          <a:p>
            <a:r>
              <a:rPr lang="en-IN" sz="2000" dirty="0" err="1">
                <a:solidFill>
                  <a:schemeClr val="bg1">
                    <a:lumMod val="95000"/>
                  </a:schemeClr>
                </a:solidFill>
                <a:latin typeface="Copperplate Gothic Bold" panose="020E0705020206020404" pitchFamily="34" charset="0"/>
              </a:rPr>
              <a:t>OutPut</a:t>
            </a:r>
            <a:r>
              <a:rPr lang="en-IN" sz="2000" dirty="0">
                <a:solidFill>
                  <a:schemeClr val="bg1">
                    <a:lumMod val="95000"/>
                  </a:schemeClr>
                </a:solidFill>
                <a:latin typeface="Copperplate Gothic Bold" panose="020E0705020206020404" pitchFamily="34" charset="0"/>
              </a:rPr>
              <a:t> of reservations </a:t>
            </a: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5431" t="43373" r="49522" b="37905"/>
          <a:stretch/>
        </p:blipFill>
        <p:spPr>
          <a:xfrm>
            <a:off x="221936" y="2506827"/>
            <a:ext cx="5461412" cy="2586790"/>
          </a:xfrm>
          <a:prstGeom prst="rect">
            <a:avLst/>
          </a:prstGeom>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15670" t="43586" r="46411" b="37692"/>
          <a:stretch/>
        </p:blipFill>
        <p:spPr>
          <a:xfrm>
            <a:off x="6218758" y="2506827"/>
            <a:ext cx="5729253" cy="2586790"/>
          </a:xfrm>
          <a:prstGeom prst="rect">
            <a:avLst/>
          </a:prstGeom>
        </p:spPr>
      </p:pic>
      <p:sp>
        <p:nvSpPr>
          <p:cNvPr id="5" name="TextBox 4">
            <a:extLst>
              <a:ext uri="{FF2B5EF4-FFF2-40B4-BE49-F238E27FC236}">
                <a16:creationId xmlns:a16="http://schemas.microsoft.com/office/drawing/2014/main" id="{B372BEA8-41D0-2DDE-D087-BA0E419248F4}"/>
              </a:ext>
            </a:extLst>
          </p:cNvPr>
          <p:cNvSpPr txBox="1"/>
          <p:nvPr/>
        </p:nvSpPr>
        <p:spPr>
          <a:xfrm>
            <a:off x="7193968" y="1587398"/>
            <a:ext cx="4430486" cy="400110"/>
          </a:xfrm>
          <a:prstGeom prst="rect">
            <a:avLst/>
          </a:prstGeom>
          <a:noFill/>
        </p:spPr>
        <p:txBody>
          <a:bodyPr wrap="square" rtlCol="0">
            <a:spAutoFit/>
          </a:bodyPr>
          <a:lstStyle/>
          <a:p>
            <a:r>
              <a:rPr lang="en-IN" sz="2000" dirty="0" err="1">
                <a:solidFill>
                  <a:schemeClr val="bg1">
                    <a:lumMod val="95000"/>
                  </a:schemeClr>
                </a:solidFill>
                <a:latin typeface="Copperplate Gothic Bold" panose="020E0705020206020404" pitchFamily="34" charset="0"/>
              </a:rPr>
              <a:t>OutPut</a:t>
            </a:r>
            <a:r>
              <a:rPr lang="en-IN" sz="2000" dirty="0">
                <a:solidFill>
                  <a:schemeClr val="bg1">
                    <a:lumMod val="95000"/>
                  </a:schemeClr>
                </a:solidFill>
                <a:latin typeface="Copperplate Gothic Bold" panose="020E0705020206020404" pitchFamily="34" charset="0"/>
              </a:rPr>
              <a:t> of Events</a:t>
            </a:r>
          </a:p>
        </p:txBody>
      </p:sp>
    </p:spTree>
    <p:extLst>
      <p:ext uri="{BB962C8B-B14F-4D97-AF65-F5344CB8AC3E}">
        <p14:creationId xmlns:p14="http://schemas.microsoft.com/office/powerpoint/2010/main" val="553968451"/>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9000" b="-69000"/>
          </a:stretch>
        </a:blipFill>
        <a:effectLst/>
      </p:bgPr>
    </p:bg>
    <p:spTree>
      <p:nvGrpSpPr>
        <p:cNvPr id="1" name=""/>
        <p:cNvGrpSpPr/>
        <p:nvPr/>
      </p:nvGrpSpPr>
      <p:grpSpPr>
        <a:xfrm>
          <a:off x="0" y="0"/>
          <a:ext cx="0" cy="0"/>
          <a:chOff x="0" y="0"/>
          <a:chExt cx="0" cy="0"/>
        </a:xfrm>
      </p:grpSpPr>
      <p:sp>
        <p:nvSpPr>
          <p:cNvPr id="2" name="TextBox 1"/>
          <p:cNvSpPr txBox="1"/>
          <p:nvPr/>
        </p:nvSpPr>
        <p:spPr>
          <a:xfrm>
            <a:off x="812800" y="1219200"/>
            <a:ext cx="6473371" cy="5293757"/>
          </a:xfrm>
          <a:prstGeom prst="rect">
            <a:avLst/>
          </a:prstGeom>
          <a:noFill/>
        </p:spPr>
        <p:txBody>
          <a:bodyPr wrap="square" rtlCol="0">
            <a:spAutoFit/>
          </a:bodyPr>
          <a:lstStyle/>
          <a:p>
            <a:r>
              <a:rPr lang="en-US" sz="8000" dirty="0">
                <a:solidFill>
                  <a:schemeClr val="bg1">
                    <a:lumMod val="95000"/>
                  </a:schemeClr>
                </a:solidFill>
                <a:latin typeface="ADLaM Display"/>
              </a:rPr>
              <a:t>QUERIES USED IN THE DATABASE</a:t>
            </a:r>
          </a:p>
          <a:p>
            <a:endParaRPr lang="en-US" dirty="0">
              <a:solidFill>
                <a:schemeClr val="bg1">
                  <a:lumMod val="95000"/>
                </a:schemeClr>
              </a:solidFill>
            </a:endParaRPr>
          </a:p>
        </p:txBody>
      </p:sp>
      <p:sp>
        <p:nvSpPr>
          <p:cNvPr id="3" name="Rectangle 2"/>
          <p:cNvSpPr/>
          <p:nvPr/>
        </p:nvSpPr>
        <p:spPr>
          <a:xfrm>
            <a:off x="8374742" y="0"/>
            <a:ext cx="3817257" cy="6857999"/>
          </a:xfrm>
          <a:prstGeom prst="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623108" y="1905505"/>
            <a:ext cx="3207657" cy="3046988"/>
          </a:xfrm>
          <a:prstGeom prst="rect">
            <a:avLst/>
          </a:prstGeom>
          <a:noFill/>
        </p:spPr>
        <p:txBody>
          <a:bodyPr wrap="square" rtlCol="0">
            <a:spAutoFit/>
          </a:bodyPr>
          <a:lstStyle/>
          <a:p>
            <a:pPr marL="685800" indent="-685800">
              <a:buFont typeface="Wingdings" panose="05000000000000000000" pitchFamily="2" charset="2"/>
              <a:buChar char="q"/>
            </a:pPr>
            <a:r>
              <a:rPr lang="en-US" sz="3200" dirty="0">
                <a:latin typeface="Bahnschrift Condensed" panose="020B0502040204020203" pitchFamily="34" charset="0"/>
              </a:rPr>
              <a:t>JOIN</a:t>
            </a:r>
          </a:p>
          <a:p>
            <a:pPr marL="685800" indent="-685800">
              <a:buFont typeface="Wingdings" panose="05000000000000000000" pitchFamily="2" charset="2"/>
              <a:buChar char="q"/>
            </a:pPr>
            <a:r>
              <a:rPr lang="en-US" sz="3200" dirty="0">
                <a:latin typeface="Bahnschrift Condensed" panose="020B0502040204020203" pitchFamily="34" charset="0"/>
              </a:rPr>
              <a:t>WHERE</a:t>
            </a:r>
          </a:p>
          <a:p>
            <a:pPr marL="685800" indent="-685800">
              <a:buFont typeface="Wingdings" panose="05000000000000000000" pitchFamily="2" charset="2"/>
              <a:buChar char="q"/>
            </a:pPr>
            <a:r>
              <a:rPr lang="en-US" sz="3200" dirty="0">
                <a:latin typeface="Bahnschrift Condensed" panose="020B0502040204020203" pitchFamily="34" charset="0"/>
              </a:rPr>
              <a:t>GROUP BY</a:t>
            </a:r>
          </a:p>
          <a:p>
            <a:pPr marL="685800" indent="-685800">
              <a:buFont typeface="Wingdings" panose="05000000000000000000" pitchFamily="2" charset="2"/>
              <a:buChar char="q"/>
            </a:pPr>
            <a:r>
              <a:rPr lang="en-US" sz="3200" dirty="0">
                <a:latin typeface="Bahnschrift Condensed" panose="020B0502040204020203" pitchFamily="34" charset="0"/>
              </a:rPr>
              <a:t>ORDER BY</a:t>
            </a:r>
          </a:p>
          <a:p>
            <a:pPr marL="685800" indent="-685800">
              <a:buFont typeface="Wingdings" panose="05000000000000000000" pitchFamily="2" charset="2"/>
              <a:buChar char="q"/>
            </a:pPr>
            <a:r>
              <a:rPr lang="en-US" sz="3200" dirty="0">
                <a:latin typeface="Bahnschrift Condensed" panose="020B0502040204020203" pitchFamily="34" charset="0"/>
              </a:rPr>
              <a:t>SUBQUERY</a:t>
            </a:r>
          </a:p>
          <a:p>
            <a:pPr marL="685800" indent="-685800">
              <a:buFont typeface="Wingdings" panose="05000000000000000000" pitchFamily="2" charset="2"/>
              <a:buChar char="q"/>
            </a:pPr>
            <a:endParaRPr lang="en-US" sz="3200" dirty="0"/>
          </a:p>
        </p:txBody>
      </p:sp>
    </p:spTree>
    <p:extLst>
      <p:ext uri="{BB962C8B-B14F-4D97-AF65-F5344CB8AC3E}">
        <p14:creationId xmlns:p14="http://schemas.microsoft.com/office/powerpoint/2010/main" val="10986342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9000" b="-69000"/>
          </a:stretch>
        </a:blipFill>
        <a:effectLst/>
      </p:bgPr>
    </p:bg>
    <p:spTree>
      <p:nvGrpSpPr>
        <p:cNvPr id="1" name=""/>
        <p:cNvGrpSpPr/>
        <p:nvPr/>
      </p:nvGrpSpPr>
      <p:grpSpPr>
        <a:xfrm>
          <a:off x="0" y="0"/>
          <a:ext cx="0" cy="0"/>
          <a:chOff x="0" y="0"/>
          <a:chExt cx="0" cy="0"/>
        </a:xfrm>
      </p:grpSpPr>
      <p:sp>
        <p:nvSpPr>
          <p:cNvPr id="2" name="TextBox 1"/>
          <p:cNvSpPr txBox="1"/>
          <p:nvPr/>
        </p:nvSpPr>
        <p:spPr>
          <a:xfrm>
            <a:off x="812800" y="1219200"/>
            <a:ext cx="6473371" cy="5293757"/>
          </a:xfrm>
          <a:prstGeom prst="rect">
            <a:avLst/>
          </a:prstGeom>
          <a:noFill/>
        </p:spPr>
        <p:txBody>
          <a:bodyPr wrap="square" rtlCol="0">
            <a:spAutoFit/>
          </a:bodyPr>
          <a:lstStyle/>
          <a:p>
            <a:r>
              <a:rPr lang="en-US" sz="8000" dirty="0">
                <a:solidFill>
                  <a:schemeClr val="bg1">
                    <a:lumMod val="95000"/>
                  </a:schemeClr>
                </a:solidFill>
                <a:latin typeface="ADLaM Display"/>
              </a:rPr>
              <a:t>QUERIES USED IN THE DATABASE</a:t>
            </a:r>
          </a:p>
          <a:p>
            <a:endParaRPr lang="en-US" dirty="0">
              <a:solidFill>
                <a:schemeClr val="bg1">
                  <a:lumMod val="95000"/>
                </a:schemeClr>
              </a:solidFill>
            </a:endParaRPr>
          </a:p>
        </p:txBody>
      </p:sp>
      <p:sp>
        <p:nvSpPr>
          <p:cNvPr id="3" name="Rectangle 2"/>
          <p:cNvSpPr/>
          <p:nvPr/>
        </p:nvSpPr>
        <p:spPr>
          <a:xfrm>
            <a:off x="8374742" y="0"/>
            <a:ext cx="3817257" cy="6857999"/>
          </a:xfrm>
          <a:prstGeom prst="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868228" y="1930400"/>
            <a:ext cx="3207657" cy="3046988"/>
          </a:xfrm>
          <a:prstGeom prst="rect">
            <a:avLst/>
          </a:prstGeom>
          <a:noFill/>
        </p:spPr>
        <p:txBody>
          <a:bodyPr wrap="square" rtlCol="0">
            <a:spAutoFit/>
          </a:bodyPr>
          <a:lstStyle/>
          <a:p>
            <a:pPr marL="685800" indent="-685800">
              <a:buFont typeface="Wingdings" panose="05000000000000000000" pitchFamily="2" charset="2"/>
              <a:buChar char="q"/>
            </a:pPr>
            <a:r>
              <a:rPr lang="en-US" sz="3200" dirty="0">
                <a:latin typeface="Bahnschrift Condensed" panose="020B0502040204020203" pitchFamily="34" charset="0"/>
              </a:rPr>
              <a:t>JOIN</a:t>
            </a:r>
          </a:p>
          <a:p>
            <a:pPr marL="685800" indent="-685800">
              <a:buFont typeface="Wingdings" panose="05000000000000000000" pitchFamily="2" charset="2"/>
              <a:buChar char="q"/>
            </a:pPr>
            <a:r>
              <a:rPr lang="en-US" sz="3200" dirty="0">
                <a:latin typeface="Bahnschrift Condensed" panose="020B0502040204020203" pitchFamily="34" charset="0"/>
              </a:rPr>
              <a:t>WHERE</a:t>
            </a:r>
          </a:p>
          <a:p>
            <a:pPr marL="685800" indent="-685800">
              <a:buFont typeface="Wingdings" panose="05000000000000000000" pitchFamily="2" charset="2"/>
              <a:buChar char="q"/>
            </a:pPr>
            <a:r>
              <a:rPr lang="en-US" sz="3200" dirty="0">
                <a:latin typeface="Bahnschrift Condensed" panose="020B0502040204020203" pitchFamily="34" charset="0"/>
              </a:rPr>
              <a:t>GROUP BY</a:t>
            </a:r>
          </a:p>
          <a:p>
            <a:pPr marL="685800" indent="-685800">
              <a:buFont typeface="Wingdings" panose="05000000000000000000" pitchFamily="2" charset="2"/>
              <a:buChar char="q"/>
            </a:pPr>
            <a:r>
              <a:rPr lang="en-US" sz="3200" dirty="0">
                <a:latin typeface="Bahnschrift Condensed" panose="020B0502040204020203" pitchFamily="34" charset="0"/>
              </a:rPr>
              <a:t>ORDER BY</a:t>
            </a:r>
          </a:p>
          <a:p>
            <a:pPr marL="685800" indent="-685800">
              <a:buFont typeface="Wingdings" panose="05000000000000000000" pitchFamily="2" charset="2"/>
              <a:buChar char="q"/>
            </a:pPr>
            <a:r>
              <a:rPr lang="en-US" sz="3200" dirty="0">
                <a:latin typeface="Bahnschrift Condensed" panose="020B0502040204020203" pitchFamily="34" charset="0"/>
              </a:rPr>
              <a:t>SUBQUERY</a:t>
            </a:r>
          </a:p>
          <a:p>
            <a:pPr marL="685800" indent="-685800">
              <a:buFont typeface="Wingdings" panose="05000000000000000000" pitchFamily="2" charset="2"/>
              <a:buChar char="q"/>
            </a:pPr>
            <a:endParaRPr lang="en-US" sz="3200" dirty="0"/>
          </a:p>
        </p:txBody>
      </p:sp>
    </p:spTree>
    <p:extLst>
      <p:ext uri="{BB962C8B-B14F-4D97-AF65-F5344CB8AC3E}">
        <p14:creationId xmlns:p14="http://schemas.microsoft.com/office/powerpoint/2010/main" val="20694407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707886"/>
          </a:xfrm>
          <a:prstGeom prst="rect">
            <a:avLst/>
          </a:prstGeom>
          <a:noFill/>
        </p:spPr>
        <p:txBody>
          <a:bodyPr wrap="square" rtlCol="0">
            <a:spAutoFit/>
          </a:bodyPr>
          <a:lstStyle/>
          <a:p>
            <a:r>
              <a:rPr lang="en-US" sz="4000" dirty="0"/>
              <a:t># Who has </a:t>
            </a:r>
            <a:r>
              <a:rPr lang="en-US" sz="4000" dirty="0" err="1"/>
              <a:t>particapate</a:t>
            </a:r>
            <a:r>
              <a:rPr lang="en-US" sz="4000" dirty="0"/>
              <a:t> the events</a:t>
            </a:r>
          </a:p>
        </p:txBody>
      </p:sp>
      <p:sp>
        <p:nvSpPr>
          <p:cNvPr id="4" name="TextBox 3"/>
          <p:cNvSpPr txBox="1"/>
          <p:nvPr/>
        </p:nvSpPr>
        <p:spPr>
          <a:xfrm>
            <a:off x="319315" y="1698171"/>
            <a:ext cx="4760686" cy="3970318"/>
          </a:xfrm>
          <a:prstGeom prst="rect">
            <a:avLst/>
          </a:prstGeom>
          <a:noFill/>
        </p:spPr>
        <p:txBody>
          <a:bodyPr wrap="square" rtlCol="0">
            <a:spAutoFit/>
          </a:bodyPr>
          <a:lstStyle/>
          <a:p>
            <a:r>
              <a:rPr lang="en-US" b="1" dirty="0"/>
              <a:t>SELECT </a:t>
            </a:r>
            <a:r>
              <a:rPr lang="en-US" b="1" dirty="0" err="1"/>
              <a:t>M.member_id,M.first_name,M.last_name,GROUP_CONCAT</a:t>
            </a:r>
            <a:r>
              <a:rPr lang="en-US" b="1" dirty="0"/>
              <a:t>(</a:t>
            </a:r>
            <a:r>
              <a:rPr lang="en-US" b="1" dirty="0" err="1"/>
              <a:t>E.event_name</a:t>
            </a:r>
            <a:r>
              <a:rPr lang="en-US" b="1" dirty="0"/>
              <a:t>) </a:t>
            </a:r>
          </a:p>
          <a:p>
            <a:r>
              <a:rPr lang="en-US" b="1" dirty="0"/>
              <a:t>AS </a:t>
            </a:r>
          </a:p>
          <a:p>
            <a:r>
              <a:rPr lang="en-US" b="1" dirty="0" err="1"/>
              <a:t>participated_events</a:t>
            </a:r>
            <a:endParaRPr lang="en-US" b="1" dirty="0"/>
          </a:p>
          <a:p>
            <a:r>
              <a:rPr lang="en-US" b="1" dirty="0"/>
              <a:t>FROM</a:t>
            </a:r>
          </a:p>
          <a:p>
            <a:r>
              <a:rPr lang="en-US" b="1" dirty="0"/>
              <a:t>Members </a:t>
            </a:r>
          </a:p>
          <a:p>
            <a:r>
              <a:rPr lang="en-US" b="1" dirty="0"/>
              <a:t>MJOIN Reservations R ON </a:t>
            </a:r>
            <a:r>
              <a:rPr lang="en-US" b="1" dirty="0" err="1"/>
              <a:t>M.member_id</a:t>
            </a:r>
            <a:r>
              <a:rPr lang="en-US" b="1" dirty="0"/>
              <a:t> = </a:t>
            </a:r>
            <a:r>
              <a:rPr lang="en-US" b="1" dirty="0" err="1"/>
              <a:t>R.member_id</a:t>
            </a:r>
            <a:endParaRPr lang="en-US" b="1" dirty="0"/>
          </a:p>
          <a:p>
            <a:r>
              <a:rPr lang="en-US" b="1" dirty="0"/>
              <a:t>JOIN </a:t>
            </a:r>
          </a:p>
          <a:p>
            <a:r>
              <a:rPr lang="en-US" b="1" dirty="0"/>
              <a:t>Events E ON </a:t>
            </a:r>
            <a:r>
              <a:rPr lang="en-US" b="1" dirty="0" err="1"/>
              <a:t>R.event_id</a:t>
            </a:r>
            <a:r>
              <a:rPr lang="en-US" b="1" dirty="0"/>
              <a:t> = </a:t>
            </a:r>
            <a:r>
              <a:rPr lang="en-US" b="1" dirty="0" err="1"/>
              <a:t>E.event_id</a:t>
            </a:r>
            <a:endParaRPr lang="en-US" b="1" dirty="0"/>
          </a:p>
          <a:p>
            <a:r>
              <a:rPr lang="en-US" b="1" dirty="0"/>
              <a:t>GROUP BY</a:t>
            </a:r>
          </a:p>
          <a:p>
            <a:r>
              <a:rPr lang="en-US" b="1" dirty="0" err="1"/>
              <a:t>M.member_id</a:t>
            </a:r>
            <a:r>
              <a:rPr lang="en-US" b="1" dirty="0"/>
              <a:t>;</a:t>
            </a:r>
          </a:p>
          <a:p>
            <a:endParaRPr lang="en-US" b="1"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6162" t="43602" r="57575" b="35095"/>
          <a:stretch/>
        </p:blipFill>
        <p:spPr>
          <a:xfrm>
            <a:off x="4905829" y="2380343"/>
            <a:ext cx="7170058" cy="3628571"/>
          </a:xfrm>
          <a:prstGeom prst="rect">
            <a:avLst/>
          </a:prstGeom>
        </p:spPr>
      </p:pic>
    </p:spTree>
    <p:extLst>
      <p:ext uri="{BB962C8B-B14F-4D97-AF65-F5344CB8AC3E}">
        <p14:creationId xmlns:p14="http://schemas.microsoft.com/office/powerpoint/2010/main" val="37735256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1323439"/>
          </a:xfrm>
          <a:prstGeom prst="rect">
            <a:avLst/>
          </a:prstGeom>
          <a:noFill/>
        </p:spPr>
        <p:txBody>
          <a:bodyPr wrap="square" rtlCol="0">
            <a:spAutoFit/>
          </a:bodyPr>
          <a:lstStyle/>
          <a:p>
            <a:r>
              <a:rPr lang="en-US" sz="4000" dirty="0"/>
              <a:t># names and email addresses of all members who have a Premium membership</a:t>
            </a:r>
          </a:p>
        </p:txBody>
      </p:sp>
      <p:sp>
        <p:nvSpPr>
          <p:cNvPr id="4" name="TextBox 3"/>
          <p:cNvSpPr txBox="1"/>
          <p:nvPr/>
        </p:nvSpPr>
        <p:spPr>
          <a:xfrm>
            <a:off x="205273" y="2714171"/>
            <a:ext cx="4760686" cy="1200329"/>
          </a:xfrm>
          <a:prstGeom prst="rect">
            <a:avLst/>
          </a:prstGeom>
          <a:noFill/>
        </p:spPr>
        <p:txBody>
          <a:bodyPr wrap="square" rtlCol="0">
            <a:spAutoFit/>
          </a:bodyPr>
          <a:lstStyle/>
          <a:p>
            <a:r>
              <a:rPr lang="en-US" b="1" dirty="0"/>
              <a:t>SELECT </a:t>
            </a:r>
          </a:p>
          <a:p>
            <a:r>
              <a:rPr lang="en-US" b="1" dirty="0" err="1"/>
              <a:t>first_name</a:t>
            </a:r>
            <a:r>
              <a:rPr lang="en-US" b="1" dirty="0"/>
              <a:t>, </a:t>
            </a:r>
            <a:r>
              <a:rPr lang="en-US" b="1" dirty="0" err="1"/>
              <a:t>last_name</a:t>
            </a:r>
            <a:r>
              <a:rPr lang="en-US" b="1" dirty="0"/>
              <a:t>, email</a:t>
            </a:r>
          </a:p>
          <a:p>
            <a:r>
              <a:rPr lang="en-US" b="1" dirty="0"/>
              <a:t>FROM Members</a:t>
            </a:r>
          </a:p>
          <a:p>
            <a:r>
              <a:rPr lang="en-US" b="1" dirty="0"/>
              <a:t>WHERE </a:t>
            </a:r>
            <a:r>
              <a:rPr lang="en-US" b="1" dirty="0" err="1"/>
              <a:t>membership_type</a:t>
            </a:r>
            <a:r>
              <a:rPr lang="en-US" b="1" dirty="0"/>
              <a:t> = 'Premium';</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5440" t="43859" r="59019" b="42025"/>
          <a:stretch/>
        </p:blipFill>
        <p:spPr>
          <a:xfrm>
            <a:off x="5123543" y="2452915"/>
            <a:ext cx="6545943" cy="3352800"/>
          </a:xfrm>
          <a:prstGeom prst="rect">
            <a:avLst/>
          </a:prstGeom>
        </p:spPr>
      </p:pic>
    </p:spTree>
    <p:extLst>
      <p:ext uri="{BB962C8B-B14F-4D97-AF65-F5344CB8AC3E}">
        <p14:creationId xmlns:p14="http://schemas.microsoft.com/office/powerpoint/2010/main" val="19004906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1323439"/>
          </a:xfrm>
          <a:prstGeom prst="rect">
            <a:avLst/>
          </a:prstGeom>
          <a:noFill/>
        </p:spPr>
        <p:txBody>
          <a:bodyPr wrap="square" rtlCol="0">
            <a:spAutoFit/>
          </a:bodyPr>
          <a:lstStyle/>
          <a:p>
            <a:r>
              <a:rPr lang="en-US" sz="4000" dirty="0"/>
              <a:t># Who has done the payment done with credit card and cash only</a:t>
            </a:r>
          </a:p>
        </p:txBody>
      </p:sp>
      <p:sp>
        <p:nvSpPr>
          <p:cNvPr id="4" name="TextBox 3"/>
          <p:cNvSpPr txBox="1"/>
          <p:nvPr/>
        </p:nvSpPr>
        <p:spPr>
          <a:xfrm>
            <a:off x="205273" y="2714171"/>
            <a:ext cx="4760686" cy="3046988"/>
          </a:xfrm>
          <a:prstGeom prst="rect">
            <a:avLst/>
          </a:prstGeom>
          <a:noFill/>
        </p:spPr>
        <p:txBody>
          <a:bodyPr wrap="square" rtlCol="0">
            <a:spAutoFit/>
          </a:bodyPr>
          <a:lstStyle/>
          <a:p>
            <a:r>
              <a:rPr lang="en-US" sz="2400" b="1" dirty="0"/>
              <a:t>SELECT </a:t>
            </a:r>
          </a:p>
          <a:p>
            <a:r>
              <a:rPr lang="en-US" sz="2400" b="1" dirty="0" err="1"/>
              <a:t>payment_id</a:t>
            </a:r>
            <a:r>
              <a:rPr lang="en-US" sz="2400" b="1" dirty="0"/>
              <a:t>, </a:t>
            </a:r>
            <a:r>
              <a:rPr lang="en-US" sz="2400" b="1" dirty="0" err="1"/>
              <a:t>member_id</a:t>
            </a:r>
            <a:r>
              <a:rPr lang="en-US" sz="2400" b="1" dirty="0"/>
              <a:t>, amount, </a:t>
            </a:r>
            <a:r>
              <a:rPr lang="en-US" sz="2400" b="1" dirty="0" err="1"/>
              <a:t>payment_date</a:t>
            </a:r>
            <a:r>
              <a:rPr lang="en-US" sz="2400" b="1" dirty="0"/>
              <a:t>, </a:t>
            </a:r>
            <a:r>
              <a:rPr lang="en-US" sz="2400" b="1" dirty="0" err="1"/>
              <a:t>payment_method</a:t>
            </a:r>
            <a:endParaRPr lang="en-US" sz="2400" b="1" dirty="0"/>
          </a:p>
          <a:p>
            <a:r>
              <a:rPr lang="en-US" sz="2400" b="1" dirty="0"/>
              <a:t>FROM Payments</a:t>
            </a:r>
          </a:p>
          <a:p>
            <a:r>
              <a:rPr lang="en-US" sz="2400" b="1" dirty="0"/>
              <a:t>WHERE </a:t>
            </a:r>
            <a:r>
              <a:rPr lang="en-US" sz="2400" b="1" dirty="0" err="1"/>
              <a:t>payment_method</a:t>
            </a:r>
            <a:r>
              <a:rPr lang="en-US" sz="2400" b="1" dirty="0"/>
              <a:t> </a:t>
            </a:r>
          </a:p>
          <a:p>
            <a:r>
              <a:rPr lang="en-US" sz="2400" b="1" dirty="0"/>
              <a:t>IN</a:t>
            </a:r>
          </a:p>
          <a:p>
            <a:r>
              <a:rPr lang="en-US" sz="2400" b="1" dirty="0"/>
              <a:t>('Credit Card', 'Cash');</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5728" t="43089" r="51804" b="34325"/>
          <a:stretch/>
        </p:blipFill>
        <p:spPr>
          <a:xfrm>
            <a:off x="4862285" y="2423885"/>
            <a:ext cx="6487887" cy="3178629"/>
          </a:xfrm>
          <a:prstGeom prst="rect">
            <a:avLst/>
          </a:prstGeom>
        </p:spPr>
      </p:pic>
    </p:spTree>
    <p:extLst>
      <p:ext uri="{BB962C8B-B14F-4D97-AF65-F5344CB8AC3E}">
        <p14:creationId xmlns:p14="http://schemas.microsoft.com/office/powerpoint/2010/main" val="26908967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1323439"/>
          </a:xfrm>
          <a:prstGeom prst="rect">
            <a:avLst/>
          </a:prstGeom>
          <a:noFill/>
        </p:spPr>
        <p:txBody>
          <a:bodyPr wrap="square" rtlCol="0">
            <a:spAutoFit/>
          </a:bodyPr>
          <a:lstStyle/>
          <a:p>
            <a:r>
              <a:rPr lang="en-US" sz="4000" dirty="0"/>
              <a:t># who has done the payment more than 40 </a:t>
            </a:r>
            <a:r>
              <a:rPr lang="en-US" sz="4000" dirty="0" err="1"/>
              <a:t>rupeess</a:t>
            </a:r>
            <a:r>
              <a:rPr lang="en-US" sz="4000" dirty="0"/>
              <a:t> </a:t>
            </a:r>
          </a:p>
        </p:txBody>
      </p:sp>
      <p:sp>
        <p:nvSpPr>
          <p:cNvPr id="4" name="TextBox 3"/>
          <p:cNvSpPr txBox="1"/>
          <p:nvPr/>
        </p:nvSpPr>
        <p:spPr>
          <a:xfrm>
            <a:off x="205273" y="2714171"/>
            <a:ext cx="4760686" cy="1938992"/>
          </a:xfrm>
          <a:prstGeom prst="rect">
            <a:avLst/>
          </a:prstGeom>
          <a:noFill/>
        </p:spPr>
        <p:txBody>
          <a:bodyPr wrap="square" rtlCol="0">
            <a:spAutoFit/>
          </a:bodyPr>
          <a:lstStyle/>
          <a:p>
            <a:r>
              <a:rPr lang="en-US" sz="2400" b="1" dirty="0"/>
              <a:t>SELECT</a:t>
            </a:r>
          </a:p>
          <a:p>
            <a:r>
              <a:rPr lang="en-US" sz="2400" b="1" dirty="0" err="1"/>
              <a:t>payment_id</a:t>
            </a:r>
            <a:r>
              <a:rPr lang="en-US" sz="2400" b="1" dirty="0"/>
              <a:t>, </a:t>
            </a:r>
            <a:r>
              <a:rPr lang="en-US" sz="2400" b="1" dirty="0" err="1"/>
              <a:t>member_id</a:t>
            </a:r>
            <a:r>
              <a:rPr lang="en-US" sz="2400" b="1" dirty="0"/>
              <a:t>, amount, </a:t>
            </a:r>
            <a:r>
              <a:rPr lang="en-US" sz="2400" b="1" dirty="0" err="1"/>
              <a:t>payment_date</a:t>
            </a:r>
            <a:endParaRPr lang="en-US" sz="2400" b="1" dirty="0"/>
          </a:p>
          <a:p>
            <a:r>
              <a:rPr lang="en-US" sz="2400" b="1" dirty="0"/>
              <a:t>FROM Payments</a:t>
            </a:r>
          </a:p>
          <a:p>
            <a:r>
              <a:rPr lang="en-US" sz="2400" b="1" dirty="0"/>
              <a:t>WHERE amount &gt; 40;</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728" t="43602" r="58875" b="34325"/>
          <a:stretch/>
        </p:blipFill>
        <p:spPr>
          <a:xfrm>
            <a:off x="5254170" y="2614688"/>
            <a:ext cx="6023430" cy="3338286"/>
          </a:xfrm>
          <a:prstGeom prst="rect">
            <a:avLst/>
          </a:prstGeom>
        </p:spPr>
      </p:pic>
    </p:spTree>
    <p:extLst>
      <p:ext uri="{BB962C8B-B14F-4D97-AF65-F5344CB8AC3E}">
        <p14:creationId xmlns:p14="http://schemas.microsoft.com/office/powerpoint/2010/main" val="21473687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1323439"/>
          </a:xfrm>
          <a:prstGeom prst="rect">
            <a:avLst/>
          </a:prstGeom>
          <a:noFill/>
        </p:spPr>
        <p:txBody>
          <a:bodyPr wrap="square" rtlCol="0">
            <a:spAutoFit/>
          </a:bodyPr>
          <a:lstStyle/>
          <a:p>
            <a:r>
              <a:rPr lang="en-US" sz="4000" dirty="0"/>
              <a:t># How many members are there for each membership type (Regular vs. Premium)</a:t>
            </a:r>
          </a:p>
        </p:txBody>
      </p:sp>
      <p:sp>
        <p:nvSpPr>
          <p:cNvPr id="4" name="TextBox 3"/>
          <p:cNvSpPr txBox="1"/>
          <p:nvPr/>
        </p:nvSpPr>
        <p:spPr>
          <a:xfrm>
            <a:off x="205273" y="2714171"/>
            <a:ext cx="4760686" cy="2677656"/>
          </a:xfrm>
          <a:prstGeom prst="rect">
            <a:avLst/>
          </a:prstGeom>
          <a:noFill/>
        </p:spPr>
        <p:txBody>
          <a:bodyPr wrap="square" rtlCol="0">
            <a:spAutoFit/>
          </a:bodyPr>
          <a:lstStyle/>
          <a:p>
            <a:r>
              <a:rPr lang="en-US" sz="2400" b="1" dirty="0"/>
              <a:t>SELECT </a:t>
            </a:r>
          </a:p>
          <a:p>
            <a:r>
              <a:rPr lang="en-US" sz="2400" b="1" dirty="0" err="1"/>
              <a:t>membership_type</a:t>
            </a:r>
            <a:r>
              <a:rPr lang="en-US" sz="2400" b="1" dirty="0"/>
              <a:t>, COUNT(*) AS </a:t>
            </a:r>
            <a:r>
              <a:rPr lang="en-US" sz="2400" b="1" dirty="0" err="1"/>
              <a:t>member_count</a:t>
            </a:r>
            <a:endParaRPr lang="en-US" sz="2400" b="1" dirty="0"/>
          </a:p>
          <a:p>
            <a:r>
              <a:rPr lang="en-US" sz="2400" b="1" dirty="0"/>
              <a:t>FROM </a:t>
            </a:r>
          </a:p>
          <a:p>
            <a:r>
              <a:rPr lang="en-US" sz="2400" b="1" dirty="0"/>
              <a:t>Members</a:t>
            </a:r>
          </a:p>
          <a:p>
            <a:r>
              <a:rPr lang="en-US" sz="2400" b="1" dirty="0"/>
              <a:t>GROUP BY </a:t>
            </a:r>
          </a:p>
          <a:p>
            <a:r>
              <a:rPr lang="en-US" sz="2400" b="1" dirty="0" err="1"/>
              <a:t>membership_type</a:t>
            </a:r>
            <a:r>
              <a:rPr lang="en-US" sz="2400" b="1" dirty="0"/>
              <a:t>;</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5585" t="43602" r="67821" b="33298"/>
          <a:stretch/>
        </p:blipFill>
        <p:spPr>
          <a:xfrm>
            <a:off x="6444343" y="2598057"/>
            <a:ext cx="3846286" cy="3062514"/>
          </a:xfrm>
          <a:prstGeom prst="rect">
            <a:avLst/>
          </a:prstGeom>
        </p:spPr>
      </p:pic>
    </p:spTree>
    <p:extLst>
      <p:ext uri="{BB962C8B-B14F-4D97-AF65-F5344CB8AC3E}">
        <p14:creationId xmlns:p14="http://schemas.microsoft.com/office/powerpoint/2010/main" val="1200347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1323439"/>
          </a:xfrm>
          <a:prstGeom prst="rect">
            <a:avLst/>
          </a:prstGeom>
          <a:noFill/>
        </p:spPr>
        <p:txBody>
          <a:bodyPr wrap="square" rtlCol="0">
            <a:spAutoFit/>
          </a:bodyPr>
          <a:lstStyle/>
          <a:p>
            <a:r>
              <a:rPr lang="en-US" sz="4000" dirty="0"/>
              <a:t># Which members have attended more than three events</a:t>
            </a:r>
          </a:p>
        </p:txBody>
      </p:sp>
      <p:sp>
        <p:nvSpPr>
          <p:cNvPr id="4" name="TextBox 3"/>
          <p:cNvSpPr txBox="1"/>
          <p:nvPr/>
        </p:nvSpPr>
        <p:spPr>
          <a:xfrm>
            <a:off x="205273" y="1898916"/>
            <a:ext cx="4760686" cy="4524315"/>
          </a:xfrm>
          <a:prstGeom prst="rect">
            <a:avLst/>
          </a:prstGeom>
          <a:noFill/>
        </p:spPr>
        <p:txBody>
          <a:bodyPr wrap="square" rtlCol="0">
            <a:spAutoFit/>
          </a:bodyPr>
          <a:lstStyle/>
          <a:p>
            <a:r>
              <a:rPr lang="en-US" sz="2400" b="1" dirty="0"/>
              <a:t>SELECT </a:t>
            </a:r>
          </a:p>
          <a:p>
            <a:r>
              <a:rPr lang="en-US" sz="2400" b="1" dirty="0" err="1"/>
              <a:t>m.member_id</a:t>
            </a:r>
            <a:r>
              <a:rPr lang="en-US" sz="2400" b="1" dirty="0"/>
              <a:t>, </a:t>
            </a:r>
            <a:r>
              <a:rPr lang="en-US" sz="2400" b="1" dirty="0" err="1"/>
              <a:t>m.first_name</a:t>
            </a:r>
            <a:r>
              <a:rPr lang="en-US" sz="2400" b="1" dirty="0"/>
              <a:t>, </a:t>
            </a:r>
            <a:r>
              <a:rPr lang="en-US" sz="2400" b="1" dirty="0" err="1"/>
              <a:t>m.last_name</a:t>
            </a:r>
            <a:r>
              <a:rPr lang="en-US" sz="2400" b="1" dirty="0"/>
              <a:t>, </a:t>
            </a:r>
          </a:p>
          <a:p>
            <a:r>
              <a:rPr lang="en-US" sz="2400" b="1" dirty="0"/>
              <a:t>COUNT</a:t>
            </a:r>
          </a:p>
          <a:p>
            <a:r>
              <a:rPr lang="en-US" sz="2400" b="1" dirty="0"/>
              <a:t>(</a:t>
            </a:r>
            <a:r>
              <a:rPr lang="en-US" sz="2400" b="1" dirty="0" err="1"/>
              <a:t>r.event_id</a:t>
            </a:r>
            <a:r>
              <a:rPr lang="en-US" sz="2400" b="1" dirty="0"/>
              <a:t>) AS </a:t>
            </a:r>
            <a:r>
              <a:rPr lang="en-US" sz="2400" b="1" dirty="0" err="1"/>
              <a:t>event_count</a:t>
            </a:r>
            <a:endParaRPr lang="en-US" sz="2400" b="1" dirty="0"/>
          </a:p>
          <a:p>
            <a:r>
              <a:rPr lang="en-US" sz="2400" b="1" dirty="0"/>
              <a:t>FROM Members m</a:t>
            </a:r>
          </a:p>
          <a:p>
            <a:r>
              <a:rPr lang="en-US" sz="2400" b="1" dirty="0"/>
              <a:t>JOIN Reservations r ON </a:t>
            </a:r>
            <a:r>
              <a:rPr lang="en-US" sz="2400" b="1" dirty="0" err="1"/>
              <a:t>m.member_id</a:t>
            </a:r>
            <a:endParaRPr lang="en-US" sz="2400" b="1" dirty="0"/>
          </a:p>
          <a:p>
            <a:r>
              <a:rPr lang="en-US" sz="2400" b="1" dirty="0"/>
              <a:t>GROUP BY </a:t>
            </a:r>
            <a:r>
              <a:rPr lang="en-US" sz="2400" b="1" dirty="0" err="1"/>
              <a:t>m.member_id</a:t>
            </a:r>
            <a:r>
              <a:rPr lang="en-US" sz="2400" b="1" dirty="0"/>
              <a:t>, </a:t>
            </a:r>
            <a:r>
              <a:rPr lang="en-US" sz="2400" b="1" dirty="0" err="1"/>
              <a:t>m.first_name</a:t>
            </a:r>
            <a:r>
              <a:rPr lang="en-US" sz="2400" b="1" dirty="0"/>
              <a:t>, </a:t>
            </a:r>
            <a:r>
              <a:rPr lang="en-US" sz="2400" b="1" dirty="0" err="1"/>
              <a:t>m.last_name</a:t>
            </a:r>
            <a:endParaRPr lang="en-US" sz="2400" b="1" dirty="0"/>
          </a:p>
          <a:p>
            <a:r>
              <a:rPr lang="en-US" sz="2400" b="1" dirty="0"/>
              <a:t>HAVING </a:t>
            </a:r>
          </a:p>
          <a:p>
            <a:r>
              <a:rPr lang="en-US" sz="2400" b="1" dirty="0"/>
              <a:t>COUNT(</a:t>
            </a:r>
            <a:r>
              <a:rPr lang="en-US" sz="2400" b="1" dirty="0" err="1"/>
              <a:t>r.event_id</a:t>
            </a:r>
            <a:r>
              <a:rPr lang="en-US" sz="2400" b="1" dirty="0"/>
              <a:t>) &gt; 2;</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440" t="43859" r="61039" b="32785"/>
          <a:stretch/>
        </p:blipFill>
        <p:spPr>
          <a:xfrm>
            <a:off x="6096000" y="2336800"/>
            <a:ext cx="4816670" cy="3648548"/>
          </a:xfrm>
          <a:prstGeom prst="rect">
            <a:avLst/>
          </a:prstGeom>
        </p:spPr>
      </p:pic>
    </p:spTree>
    <p:extLst>
      <p:ext uri="{BB962C8B-B14F-4D97-AF65-F5344CB8AC3E}">
        <p14:creationId xmlns:p14="http://schemas.microsoft.com/office/powerpoint/2010/main" val="12848447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548882"/>
          </a:xfrm>
          <a:prstGeom prst="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5273" y="149290"/>
            <a:ext cx="11986727" cy="1323439"/>
          </a:xfrm>
          <a:prstGeom prst="rect">
            <a:avLst/>
          </a:prstGeom>
          <a:noFill/>
        </p:spPr>
        <p:txBody>
          <a:bodyPr wrap="square" rtlCol="0">
            <a:spAutoFit/>
          </a:bodyPr>
          <a:lstStyle/>
          <a:p>
            <a:r>
              <a:rPr lang="en-US" sz="4000" dirty="0"/>
              <a:t># Which events had the highest attendance based on the number of tickets reserved</a:t>
            </a:r>
          </a:p>
        </p:txBody>
      </p:sp>
      <p:sp>
        <p:nvSpPr>
          <p:cNvPr id="4" name="TextBox 3"/>
          <p:cNvSpPr txBox="1"/>
          <p:nvPr/>
        </p:nvSpPr>
        <p:spPr>
          <a:xfrm>
            <a:off x="205273" y="1898916"/>
            <a:ext cx="4760686" cy="4524315"/>
          </a:xfrm>
          <a:prstGeom prst="rect">
            <a:avLst/>
          </a:prstGeom>
          <a:noFill/>
        </p:spPr>
        <p:txBody>
          <a:bodyPr wrap="square" rtlCol="0">
            <a:spAutoFit/>
          </a:bodyPr>
          <a:lstStyle/>
          <a:p>
            <a:r>
              <a:rPr lang="en-US" sz="2400" b="1" dirty="0"/>
              <a:t>SELECT </a:t>
            </a:r>
          </a:p>
          <a:p>
            <a:r>
              <a:rPr lang="en-US" sz="2400" b="1" dirty="0" err="1"/>
              <a:t>e.event_id</a:t>
            </a:r>
            <a:r>
              <a:rPr lang="en-US" sz="2400" b="1" dirty="0"/>
              <a:t>, </a:t>
            </a:r>
            <a:r>
              <a:rPr lang="en-US" sz="2400" b="1" dirty="0" err="1"/>
              <a:t>e.event_name</a:t>
            </a:r>
            <a:r>
              <a:rPr lang="en-US" sz="2400" b="1" dirty="0"/>
              <a:t>, SUM(</a:t>
            </a:r>
            <a:r>
              <a:rPr lang="en-US" sz="2400" b="1" dirty="0" err="1"/>
              <a:t>r.number_of_tickets</a:t>
            </a:r>
            <a:r>
              <a:rPr lang="en-US" sz="2400" b="1" dirty="0"/>
              <a:t>) AS </a:t>
            </a:r>
            <a:r>
              <a:rPr lang="en-US" sz="2400" b="1" dirty="0" err="1"/>
              <a:t>total_tickets_reserved</a:t>
            </a:r>
            <a:endParaRPr lang="en-US" sz="2400" b="1" dirty="0"/>
          </a:p>
          <a:p>
            <a:r>
              <a:rPr lang="en-US" sz="2400" b="1" dirty="0"/>
              <a:t>FROM Events </a:t>
            </a:r>
            <a:r>
              <a:rPr lang="en-US" sz="2400" b="1" dirty="0" err="1"/>
              <a:t>eJOIN</a:t>
            </a:r>
            <a:r>
              <a:rPr lang="en-US" sz="2400" b="1" dirty="0"/>
              <a:t> Reservations r ON </a:t>
            </a:r>
            <a:r>
              <a:rPr lang="en-US" sz="2400" b="1" dirty="0" err="1"/>
              <a:t>e.event_id</a:t>
            </a:r>
            <a:r>
              <a:rPr lang="en-US" sz="2400" b="1" dirty="0"/>
              <a:t> = </a:t>
            </a:r>
            <a:r>
              <a:rPr lang="en-US" sz="2400" b="1" dirty="0" err="1"/>
              <a:t>r.event_id</a:t>
            </a:r>
            <a:endParaRPr lang="en-US" sz="2400" b="1" dirty="0"/>
          </a:p>
          <a:p>
            <a:r>
              <a:rPr lang="en-US" sz="2400" b="1" dirty="0"/>
              <a:t>GROUP BY </a:t>
            </a:r>
            <a:r>
              <a:rPr lang="en-US" sz="2400" b="1" dirty="0" err="1"/>
              <a:t>e.event_id</a:t>
            </a:r>
            <a:r>
              <a:rPr lang="en-US" sz="2400" b="1" dirty="0"/>
              <a:t>, </a:t>
            </a:r>
            <a:r>
              <a:rPr lang="en-US" sz="2400" b="1" dirty="0" err="1"/>
              <a:t>e.event_name</a:t>
            </a:r>
            <a:endParaRPr lang="en-US" sz="2400" b="1" dirty="0"/>
          </a:p>
          <a:p>
            <a:r>
              <a:rPr lang="en-US" sz="2400" b="1" dirty="0"/>
              <a:t>ORDER BY </a:t>
            </a:r>
            <a:r>
              <a:rPr lang="en-US" sz="2400" b="1" dirty="0" err="1"/>
              <a:t>total_tickets_reserved</a:t>
            </a:r>
            <a:r>
              <a:rPr lang="en-US" sz="2400" b="1" dirty="0"/>
              <a:t> </a:t>
            </a:r>
          </a:p>
          <a:p>
            <a:r>
              <a:rPr lang="en-US" sz="2400" b="1" dirty="0"/>
              <a:t>DESC;</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5440" t="43346" r="59019" b="35351"/>
          <a:stretch/>
        </p:blipFill>
        <p:spPr>
          <a:xfrm>
            <a:off x="5834743" y="2322284"/>
            <a:ext cx="5384801" cy="3425373"/>
          </a:xfrm>
          <a:prstGeom prst="rect">
            <a:avLst/>
          </a:prstGeom>
        </p:spPr>
      </p:pic>
    </p:spTree>
    <p:extLst>
      <p:ext uri="{BB962C8B-B14F-4D97-AF65-F5344CB8AC3E}">
        <p14:creationId xmlns:p14="http://schemas.microsoft.com/office/powerpoint/2010/main" val="27884317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p:cNvGrpSpPr/>
        <p:nvPr/>
      </p:nvGrpSpPr>
      <p:grpSpPr>
        <a:xfrm>
          <a:off x="0" y="0"/>
          <a:ext cx="0" cy="0"/>
          <a:chOff x="0" y="0"/>
          <a:chExt cx="0" cy="0"/>
        </a:xfrm>
      </p:grpSpPr>
      <p:sp>
        <p:nvSpPr>
          <p:cNvPr id="2" name="TextBox 1"/>
          <p:cNvSpPr txBox="1"/>
          <p:nvPr/>
        </p:nvSpPr>
        <p:spPr>
          <a:xfrm>
            <a:off x="279919" y="615821"/>
            <a:ext cx="11912081" cy="4339650"/>
          </a:xfrm>
          <a:prstGeom prst="rect">
            <a:avLst/>
          </a:prstGeom>
          <a:noFill/>
        </p:spPr>
        <p:txBody>
          <a:bodyPr wrap="square" rtlCol="0">
            <a:spAutoFit/>
          </a:bodyPr>
          <a:lstStyle/>
          <a:p>
            <a:r>
              <a:rPr lang="en-US" sz="13800" dirty="0">
                <a:latin typeface="Arial Black" panose="020B0A04020102020204" pitchFamily="34" charset="0"/>
              </a:rPr>
              <a:t>THANK YOU !</a:t>
            </a:r>
          </a:p>
        </p:txBody>
      </p:sp>
    </p:spTree>
    <p:extLst>
      <p:ext uri="{BB962C8B-B14F-4D97-AF65-F5344CB8AC3E}">
        <p14:creationId xmlns:p14="http://schemas.microsoft.com/office/powerpoint/2010/main" val="19537401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ppt/theme/theme2.xml><?xml version="1.0" encoding="utf-8"?>
<a:theme xmlns:a="http://schemas.openxmlformats.org/drawingml/2006/main" name="BrushVTI">
  <a:themeElements>
    <a:clrScheme name="AnalogousFromDarkSeedLeftStep">
      <a:dk1>
        <a:srgbClr val="000000"/>
      </a:dk1>
      <a:lt1>
        <a:srgbClr val="FFFFFF"/>
      </a:lt1>
      <a:dk2>
        <a:srgbClr val="1B2830"/>
      </a:dk2>
      <a:lt2>
        <a:srgbClr val="F1F3F0"/>
      </a:lt2>
      <a:accent1>
        <a:srgbClr val="A629E7"/>
      </a:accent1>
      <a:accent2>
        <a:srgbClr val="592FD9"/>
      </a:accent2>
      <a:accent3>
        <a:srgbClr val="294AE7"/>
      </a:accent3>
      <a:accent4>
        <a:srgbClr val="1787D5"/>
      </a:accent4>
      <a:accent5>
        <a:srgbClr val="22BFBE"/>
      </a:accent5>
      <a:accent6>
        <a:srgbClr val="16C67B"/>
      </a:accent6>
      <a:hlink>
        <a:srgbClr val="3897A9"/>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478</TotalTime>
  <Words>1712</Words>
  <Application>Microsoft Office PowerPoint</Application>
  <PresentationFormat>Widescreen</PresentationFormat>
  <Paragraphs>90</Paragraphs>
  <Slides>20</Slides>
  <Notes>1</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20</vt:i4>
      </vt:variant>
    </vt:vector>
  </HeadingPairs>
  <TitlesOfParts>
    <vt:vector size="35" baseType="lpstr">
      <vt:lpstr>Abadi</vt:lpstr>
      <vt:lpstr>ADLaM Display</vt:lpstr>
      <vt:lpstr>Aptos</vt:lpstr>
      <vt:lpstr>Arial</vt:lpstr>
      <vt:lpstr>Arial Black</vt:lpstr>
      <vt:lpstr>Arial Rounded MT Bold</vt:lpstr>
      <vt:lpstr>Avenir Next LT Pro</vt:lpstr>
      <vt:lpstr>Bahnschrift Condensed</vt:lpstr>
      <vt:lpstr>Century Gothic</vt:lpstr>
      <vt:lpstr>Copperplate Gothic Bold</vt:lpstr>
      <vt:lpstr>Elephant</vt:lpstr>
      <vt:lpstr>Posterama</vt:lpstr>
      <vt:lpstr>Wingdings</vt:lpstr>
      <vt:lpstr>SineVTI</vt:lpstr>
      <vt:lpstr>BrushVTI</vt:lpstr>
      <vt:lpstr>Club Management  </vt:lpstr>
      <vt:lpstr>About project</vt:lpstr>
      <vt:lpstr>Tables Present in My DataBase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Club Management</dc:title>
  <dc:creator>FURKAN Khan</dc:creator>
  <cp:lastModifiedBy>FURKAN Khan</cp:lastModifiedBy>
  <cp:revision>11</cp:revision>
  <dcterms:created xsi:type="dcterms:W3CDTF">2024-10-06T16:12:17Z</dcterms:created>
  <dcterms:modified xsi:type="dcterms:W3CDTF">2024-10-07T08:36:43Z</dcterms:modified>
</cp:coreProperties>
</file>